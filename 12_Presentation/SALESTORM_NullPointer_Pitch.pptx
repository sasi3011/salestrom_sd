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56d816d-1db8-7fb1-aa39-fd8fd7308586}">
          <p14:sldIdLst>
            <p14:sldId id="256"/>
          </p14:sldIdLst>
        </p14:section>
        <p14:section name="Problem and requirements" id="{1895b8f8-d85e-7c0b-ad43-54389629cf94}">
          <p14:sldIdLst>
            <p14:sldId id="257"/>
            <p14:sldId id="258"/>
          </p14:sldIdLst>
        </p14:section>
        <p14:section name="Architecture" id="{e789331c-e055-c8ee-fb53-36fa74b775de}">
          <p14:sldIdLst>
            <p14:sldId id="259"/>
          </p14:sldIdLst>
        </p14:section>
        <p14:section name="Critical design" id="{8aa0f704-c6e6-fe66-b00a-de4c4de38198}">
          <p14:sldIdLst>
            <p14:sldId id="260"/>
            <p14:sldId id="261"/>
          </p14:sldIdLst>
        </p14:section>
        <p14:section name="Design quality" id="{2f7f2eaf-45fd-a507-7d5f-68311aebdac1}">
          <p14:sldIdLst>
            <p14:sldId id="262"/>
            <p14:sldId id="263"/>
          </p14:sldIdLst>
        </p14:section>
        <p14:section name="Jury question" id="{e9f072bc-71f1-e4c3-db6f-7f9a8b368ba7}">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033"/>
                </a:solidFill>
                <a:latin typeface="+mn-lt"/>
              </a:defRPr>
            </a:pPr>
            <a:r>
              <a:rPr sz="1300" b="0" i="0" u="none" strike="noStrike">
                <a:solidFill>
                  <a:srgbClr val="142033"/>
                </a:solidFill>
                <a:latin typeface="+mn-lt"/>
              </a:rPr>
              <a:t>Reservations for 100 units, 2,000 simultaneous buyers</a:t>
            </a:r>
          </a:p>
        </c:rich>
      </c:tx>
      <c:layout/>
      <c:overlay val="0"/>
    </c:title>
    <c:autoTitleDeleted val="0"/>
    <c:plotArea>
      <c:layout/>
      <c:barChart>
        <c:barDir val="col"/>
        <c:grouping val="stacked"/>
        <c:varyColors val="0"/>
        <c:ser>
          <c:idx val="0"/>
          <c:order val="0"/>
          <c:tx>
            <c:strRef>
              <c:f>Sheet1!$B$1</c:f>
              <c:strCache>
                <c:ptCount val="1"/>
                <c:pt idx="0">
                  <c:v>Units correctly reserved</c:v>
                </c:pt>
              </c:strCache>
            </c:strRef>
          </c:tx>
          <c:spPr>
            <a:solidFill>
              <a:srgbClr val="2B50D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Naive</c:v>
                  </c:pt>
                  <c:pt idx="1">
                    <c:v>Pessimistic</c:v>
                  </c:pt>
                  <c:pt idx="2">
                    <c:v>Optimistic</c:v>
                  </c:pt>
                  <c:pt idx="3">
                    <c:v>Atomic</c:v>
                  </c:pt>
                  <c:pt idx="4">
                    <c:v>Atomic + gate</c:v>
                  </c:pt>
                </c:lvl>
              </c:multiLvlStrCache>
            </c:multiLvlStrRef>
          </c:cat>
          <c:val>
            <c:numRef>
              <c:f>Sheet1!$B$2:$B$6</c:f>
              <c:numCache>
                <c:formatCode>General</c:formatCode>
                <c:ptCount val="5"/>
                <c:pt idx="0">
                  <c:v>100</c:v>
                </c:pt>
                <c:pt idx="1">
                  <c:v>100</c:v>
                </c:pt>
                <c:pt idx="2">
                  <c:v>43</c:v>
                </c:pt>
                <c:pt idx="3">
                  <c:v>100</c:v>
                </c:pt>
                <c:pt idx="4">
                  <c:v>100</c:v>
                </c:pt>
              </c:numCache>
            </c:numRef>
          </c:val>
        </c:ser>
        <c:ser>
          <c:idx val="1"/>
          <c:order val="1"/>
          <c:tx>
            <c:strRef>
              <c:f>Sheet1!$C$1</c:f>
              <c:strCache>
                <c:ptCount val="1"/>
                <c:pt idx="0">
                  <c:v>Oversold</c:v>
                </c:pt>
              </c:strCache>
            </c:strRef>
          </c:tx>
          <c:spPr>
            <a:solidFill>
              <a:srgbClr val="C833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Naive</c:v>
                  </c:pt>
                  <c:pt idx="1">
                    <c:v>Pessimistic</c:v>
                  </c:pt>
                  <c:pt idx="2">
                    <c:v>Optimistic</c:v>
                  </c:pt>
                  <c:pt idx="3">
                    <c:v>Atomic</c:v>
                  </c:pt>
                  <c:pt idx="4">
                    <c:v>Atomic + gate</c:v>
                  </c:pt>
                </c:lvl>
              </c:multiLvlStrCache>
            </c:multiLvlStrRef>
          </c:cat>
          <c:val>
            <c:numRef>
              <c:f>Sheet1!$C$2:$C$6</c:f>
              <c:numCache>
                <c:formatCode>General</c:formatCode>
                <c:ptCount val="5"/>
                <c:pt idx="0">
                  <c:v>1900</c:v>
                </c:pt>
                <c:pt idx="1">
                  <c:v>0</c:v>
                </c:pt>
                <c:pt idx="2">
                  <c:v>0</c:v>
                </c:pt>
                <c:pt idx="3">
                  <c:v>0</c:v>
                </c:pt>
                <c:pt idx="4">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42033"/>
                </a:solidFill>
                <a:latin typeface="+mn-lt"/>
              </a:defRPr>
            </a:pPr>
            <a:endParaRPr lang="en-US"/>
          </a:p>
        </c:txPr>
        <c:crossAx val="2094734552"/>
        <c:crosses val="autoZero"/>
        <c:auto val="1"/>
        <c:lblAlgn val="ctr"/>
        <c:noMultiLvlLbl val="1"/>
      </c:catAx>
      <c:valAx>
        <c:axId val="2094734552"/>
        <c:scaling>
          <c:orientation val="minMax"/>
          <c:max val="2000"/>
        </c:scaling>
        <c:delete val="0"/>
        <c:axPos val="l"/>
        <c:majorGridlines>
          <c:spPr>
            <a:ln w="9525" cap="flat">
              <a:solidFill>
                <a:srgbClr val="E1E6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7B8597"/>
                </a:solidFill>
                <a:latin typeface="+mn-lt"/>
              </a:defRPr>
            </a:pPr>
            <a:endParaRPr lang="en-US"/>
          </a:p>
        </c:txPr>
        <c:crossAx val="2094734554"/>
        <c:crosses val="autoZero"/>
        <c:crossBetween val="between"/>
        <c:majorUnit val="500"/>
      </c:valAx>
      <c:spPr>
        <a:noFill/>
        <a:ln>
          <a:noFill/>
        </a:ln>
        <a:effectLst/>
      </c:spPr>
    </c:plotArea>
    <c:legend>
      <c:legendPos val="b"/>
      <c:overlay val="0"/>
      <c:txPr>
        <a:bodyPr/>
        <a:lstStyle/>
        <a:p>
          <a:pPr>
            <a:defRPr sz="1100">
              <a:solidFill>
                <a:srgbClr val="1420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The grid on the right is the result of our simulated sale: 100 units, all sold, none oversold, no customer charged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System architect (0:00–0:30).
"10,000 people press Buy at the same second for 100 units. If two of them both get the last unit, we either cancel a paid order or ship something we don't have. Our job: every transaction correct, under any load, through any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System architect (0:30–1:00).
"Five guarantees we never break: never sell more than stock; stock always adds up; one reservation per request; one charge per reservation; every payment ends in an order or a refund. Latency and fairness are targets, not guarantees."
Source: 01_Requirements, sections 4 and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System architect (1:00–2:00).
"Traffic goes CDN, load balancer, gateway, Redis gate, then the database. The gate answers 'sold out' from memory for 99 % of people. Decisions are synchronous; consequences are asynchronous through Kafka with a transactional outbox. Each service owns its own data."
Numbers are from the prototype run with a gateway pod failure (Validation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LLD &amp; design engineer (2:00–3:00).
"The exact point where overselling is prevented is one SQL statement: UPDATE … SET available = available − 1 WHERE available &gt;= 1. We tested four approaches. Naive sold 2,000 of 100. Pessimistic was correct but took 4.5 seconds. Optimistic was correct but sold only 43 units because customers gave up. Atomic update: exactly 100, and with the gate only 100 database calls."
LIVE DEMO: switch to the dashboard and press Start flash sale.
Source: Validation Report, Experiment 1; ADR-002.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Reliability engineer (3:00–3:45).
"Payment uses one key per reservation, at our database and at the gateway, so double clicks and timeouts can't double charge. A timeout is UNKNOWN, never guessed; we ask the gateway. If the Order Service is down after payment, the event waits in Kafka and the order confirms when it recovers. You can see it here."
DEMO: Request tracer → "Paid, then Order Service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Team of 4: Data &amp; API engineer; team of 3: LLD &amp; design engineer (3:45–4:30).
"Inventory service: a Strategy interface for concurrency control, Factory to choose it, State machine for the reservation lifecycle, Repository for the SQL. Adding a payment provider is one adapter class and one registry line."
Full class diagram: 03_LLD/uml/01_class_diagram.svg. SOLID mapping: 06_SOLID.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Reliability engineer (4:30–5:00).
"At 50× traffic only the edge and gate change; the database still sees about a hundred writes, because load after the gate is bounded by stock. Our prototype, built with AI assistance and validated by 15 tests and live invariants, shows all eight guarantees holding, even with a gateway pod killed mid-sale."
DEMO: Invariants panel all green.
Source: 08_Scalability_Reliability section 3; Validation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jury question. Rehearsed answer (12 steps, from 12_Presentation/Pitch_Script_and_Jury_Prep.md):
1 Edge: CDN/WAF filters bots; waiting room if admission exceeds capacity.
2 Gateway: JWT verified, request validated, token bucket. Excess gets 429 with Retry-After; retries reuse the idempotency key.
3 Idempotency: double clicks with the same key collapse into the first request.
4 Per-customer limit: a partial unique index allows one active hold per customer.
5 Redis gate: Lua decrement-if-enough. First ~100 pass; everyone else gets 409 SOLD_OUT from memory.
6 Database guard: UPDATE … WHERE available &gt;= 1, insert reservation (expires in 5 min) and outbox event, commit. Two requests for the last unit serialise on the row lock; the second updates 0 rows and gets SOLD_OUT; its gate token is returned.
7 Response: 201 with reservation ID and expiry.
8 Pay: PAYMENT_PENDING only if not expired; PSP call through a circuit breaker with key pay_{reservationId}.
9 Outcomes: success → payment + PaymentSucceeded together; decline → PaymentFailed; timeout → UNKNOWN, resolved by the reconciler.
10 Async: Inventory confirms or releases; unpaid holds expire after 5 minutes and are released.
11 Orders: consumed in order per reservation → CONFIRMED → fulfilment, notification. If the Order Service is down, events wait and are retried.
12 End state: sold ≤ 100, available + reserved + sold = 100, every captured payment has exactly one confirmed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Invite questions. Likely questions and short answers are in 12_Presentation/Pitch_Script_and_Jury_Prep.md.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965960"/>
            <a:ext cx="6035040" cy="1188720"/>
          </a:xfrm>
          <a:prstGeom prst="rect">
            <a:avLst/>
          </a:prstGeom>
          <a:noFill/>
          <a:ln/>
        </p:spPr>
        <p:txBody>
          <a:bodyPr wrap="square" rtlCol="0"/>
          <a:lstStyle>
            <a:lvl1pPr algn="l" indent="0" marL="0">
              <a:buNone/>
              <a:defRPr lang="en-US" sz="5400" b="1" dirty="0">
                <a:solidFill>
                  <a:schemeClr val="bg1"/>
                </a:solidFill>
                <a:latin typeface="Arial" pitchFamily="34" charset="0"/>
                <a:ea typeface="Arial" pitchFamily="34" charset="-122"/>
                <a:cs typeface="Arial" pitchFamily="34" charset="-120"/>
              </a:defRPr>
            </a:lvl1pPr>
          </a:lstStyle>
          <a:p>
            <a:pPr algn="l" indent="0" marL="0">
              <a:buNone/>
            </a:pPr>
            <a:endParaRPr lang="en-US" sz="5400" dirty="0"/>
          </a:p>
        </p:txBody>
      </p:sp>
      <p:sp>
        <p:nvSpPr>
          <p:cNvPr id="3" name="Text 0"/>
          <p:cNvSpPr/>
          <p:nvPr>
            <p:ph idx="101" type="body" hasCustomPrompt="1"/>
          </p:nvPr>
        </p:nvSpPr>
        <p:spPr>
          <a:xfrm>
            <a:off x="685800" y="3291840"/>
            <a:ext cx="5852160" cy="1097280"/>
          </a:xfrm>
          <a:prstGeom prst="rect">
            <a:avLst/>
          </a:prstGeom>
          <a:noFill/>
          <a:ln/>
        </p:spPr>
        <p:txBody>
          <a:bodyPr wrap="square" rtlCol="0"/>
          <a:lstStyle>
            <a:lvl1pPr algn="l" indent="0" marL="0">
              <a:buNone/>
              <a:defRPr lang="en-US" sz="2000" dirty="0">
                <a:solidFill>
                  <a:schemeClr val="bg1"/>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778240" cy="685800"/>
          </a:xfrm>
          <a:prstGeom prst="rect">
            <a:avLst/>
          </a:prstGeom>
          <a:noFill/>
          <a:ln/>
        </p:spPr>
        <p:txBody>
          <a:bodyPr wrap="square" rtlCol="0"/>
          <a:lstStyle>
            <a:lvl1pPr algn="l" indent="0" marL="0">
              <a:buNone/>
              <a:defRPr lang="en-US" sz="3000" b="1" dirty="0">
                <a:solidFill>
                  <a:schemeClr val="tx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382512"/>
            <a:ext cx="6400800" cy="274320"/>
          </a:xfrm>
          <a:prstGeom prst="rect">
            <a:avLst/>
          </a:prstGeom>
          <a:noFill/>
          <a:ln/>
        </p:spPr>
        <p:txBody>
          <a:bodyPr wrap="square" lIns="0" tIns="0" rIns="0" bIns="0" rtlCol="0" anchor="ctr"/>
          <a:lstStyle/>
          <a:p>
            <a:pPr indent="0" marL="0">
              <a:buNone/>
            </a:pPr>
            <a:r>
              <a:rPr lang="en-US" sz="1000" dirty="0">
                <a:solidFill>
                  <a:srgbClr val="7B8597"/>
                </a:solidFill>
                <a:latin typeface="Calibri" pitchFamily="34" charset="0"/>
                <a:ea typeface="Calibri" pitchFamily="34" charset="-122"/>
                <a:cs typeface="Calibri" pitchFamily="34" charset="-120"/>
              </a:rPr>
              <a:t>SALESTORM  ·  Team NullPointer  ·  SYSCRAFTERS 2026</a:t>
            </a:r>
            <a:endParaRPr lang="en-US" sz="1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597"/>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rtlCol="0"/>
          <a:lstStyle>
            <a:lvl1pPr algn="l" indent="0" marL="0">
              <a:buNone/>
              <a:defRPr lang="en-US" sz="3000" b="1" dirty="0">
                <a:solidFill>
                  <a:schemeClr val="bg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382512"/>
            <a:ext cx="6400800" cy="274320"/>
          </a:xfrm>
          <a:prstGeom prst="rect">
            <a:avLst/>
          </a:prstGeom>
          <a:noFill/>
          <a:ln/>
        </p:spPr>
        <p:txBody>
          <a:bodyPr wrap="square" lIns="0" tIns="0" rIns="0" bIns="0" rtlCol="0" anchor="ctr"/>
          <a:lstStyle/>
          <a:p>
            <a:pPr indent="0" marL="0">
              <a:buNone/>
            </a:pPr>
            <a:r>
              <a:rPr lang="en-US" sz="1000" dirty="0">
                <a:solidFill>
                  <a:srgbClr val="8D9BB5"/>
                </a:solidFill>
                <a:latin typeface="Calibri" pitchFamily="34" charset="0"/>
                <a:ea typeface="Calibri" pitchFamily="34" charset="-122"/>
                <a:cs typeface="Calibri" pitchFamily="34" charset="-120"/>
              </a:rPr>
              <a:t>SALESTORM  ·  Team NullPointer  ·  SYSCRAFTERS 2026</a:t>
            </a:r>
            <a:endParaRPr lang="en-US" sz="1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BB5"/>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597"/>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3.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85800" y="1965960"/>
            <a:ext cx="6035040" cy="1188720"/>
          </a:xfrm>
          <a:prstGeom prst="rect">
            <a:avLst/>
          </a:prstGeom>
          <a:noFill/>
          <a:ln/>
        </p:spPr>
        <p:txBody>
          <a:bodyPr wrap="square" lIns="0" tIns="0" rIns="0" bIns="0" rtlCol="0" anchor="b"/>
          <a:lstStyle/>
          <a:p>
            <a:pPr algn="l" indent="0" marL="0">
              <a:buNone/>
            </a:pPr>
            <a:r>
              <a:rPr lang="en-US" sz="5400" b="1" dirty="0">
                <a:solidFill>
                  <a:schemeClr val="bg1"/>
                </a:solidFill>
                <a:latin typeface="Arial" pitchFamily="34" charset="0"/>
                <a:ea typeface="Arial" pitchFamily="34" charset="-122"/>
                <a:cs typeface="Arial" pitchFamily="34" charset="-120"/>
              </a:rPr>
              <a:t>SALESTORM</a:t>
            </a:r>
            <a:endParaRPr lang="en-US" sz="5400" dirty="0"/>
          </a:p>
        </p:txBody>
      </p:sp>
      <p:sp>
        <p:nvSpPr>
          <p:cNvPr id="3" name="Text 0"/>
          <p:cNvSpPr/>
          <p:nvPr>
            <p:ph idx="101" type="body" hasCustomPrompt="1"/>
          </p:nvPr>
        </p:nvSpPr>
        <p:spPr>
          <a:xfrm>
            <a:off x="685800" y="3291840"/>
            <a:ext cx="5852160" cy="1097280"/>
          </a:xfrm>
          <a:prstGeom prst="rect">
            <a:avLst/>
          </a:prstGeom>
          <a:noFill/>
          <a:ln/>
        </p:spPr>
        <p:txBody>
          <a:bodyPr wrap="square" lIns="0" tIns="0" rIns="0" bIns="0" rtlCol="0" anchor="t"/>
          <a:lstStyle/>
          <a:p>
            <a:pPr algn="l" indent="0" marL="0">
              <a:buNone/>
            </a:pPr>
            <a:r>
              <a:rPr lang="en-US" sz="2000" dirty="0">
                <a:solidFill>
                  <a:schemeClr val="bg1"/>
                </a:solidFill>
                <a:latin typeface="Calibri" pitchFamily="34" charset="0"/>
                <a:ea typeface="Calibri" pitchFamily="34" charset="-122"/>
                <a:cs typeface="Calibri" pitchFamily="34" charset="-120"/>
              </a:rPr>
              <a:t>Keeping every transaction correct when 10,000 customers compete for 100 units</a:t>
            </a:r>
            <a:endParaRPr lang="en-US" sz="2000" dirty="0"/>
          </a:p>
        </p:txBody>
      </p:sp>
      <p:sp>
        <p:nvSpPr>
          <p:cNvPr id="4" name="Text 2"/>
          <p:cNvSpPr txBox="1"/>
          <p:nvPr/>
        </p:nvSpPr>
        <p:spPr>
          <a:xfrm>
            <a:off x="685800" y="4617720"/>
            <a:ext cx="5852160" cy="365760"/>
          </a:xfrm>
          <a:prstGeom prst="rect">
            <a:avLst/>
          </a:prstGeom>
          <a:noFill/>
          <a:ln/>
        </p:spPr>
        <p:txBody>
          <a:bodyPr wrap="square" lIns="0" tIns="0" rIns="0" bIns="0" rtlCol="0" anchor="t"/>
          <a:lstStyle/>
          <a:p>
            <a:pPr indent="0" marL="0">
              <a:buNone/>
            </a:pPr>
            <a:r>
              <a:rPr lang="en-US" sz="1400" dirty="0">
                <a:solidFill>
                  <a:schemeClr val="bg1">
                    <a:alpha val="70000"/>
                  </a:schemeClr>
                </a:solidFill>
                <a:latin typeface="Calibri" pitchFamily="34" charset="0"/>
                <a:ea typeface="Calibri" pitchFamily="34" charset="-122"/>
                <a:cs typeface="Calibri" pitchFamily="34" charset="-120"/>
              </a:rPr>
              <a:t>Team NullPointer  ·  SYSCRAFTERS 2026 design-first hackathon</a:t>
            </a:r>
            <a:endParaRPr lang="en-US" sz="1400" dirty="0"/>
          </a:p>
        </p:txBody>
      </p:sp>
      <p:sp>
        <p:nvSpPr>
          <p:cNvPr id="5" name="unit 1"/>
          <p:cNvSpPr/>
          <p:nvPr/>
        </p:nvSpPr>
        <p:spPr>
          <a:xfrm>
            <a:off x="7360920" y="1234440"/>
            <a:ext cx="365760" cy="365760"/>
          </a:xfrm>
          <a:prstGeom prst="roundRect">
            <a:avLst>
              <a:gd name="adj" fmla="val 12500"/>
            </a:avLst>
          </a:prstGeom>
          <a:solidFill>
            <a:schemeClr val="accent1"/>
          </a:solidFill>
          <a:ln/>
        </p:spPr>
      </p:sp>
      <p:sp>
        <p:nvSpPr>
          <p:cNvPr id="6" name="unit 2"/>
          <p:cNvSpPr/>
          <p:nvPr/>
        </p:nvSpPr>
        <p:spPr>
          <a:xfrm>
            <a:off x="7799832" y="1234440"/>
            <a:ext cx="365760" cy="365760"/>
          </a:xfrm>
          <a:prstGeom prst="roundRect">
            <a:avLst>
              <a:gd name="adj" fmla="val 12500"/>
            </a:avLst>
          </a:prstGeom>
          <a:solidFill>
            <a:schemeClr val="accent1"/>
          </a:solidFill>
          <a:ln/>
        </p:spPr>
      </p:sp>
      <p:sp>
        <p:nvSpPr>
          <p:cNvPr id="7" name="unit 3"/>
          <p:cNvSpPr/>
          <p:nvPr/>
        </p:nvSpPr>
        <p:spPr>
          <a:xfrm>
            <a:off x="8238744" y="1234440"/>
            <a:ext cx="365760" cy="365760"/>
          </a:xfrm>
          <a:prstGeom prst="roundRect">
            <a:avLst>
              <a:gd name="adj" fmla="val 12500"/>
            </a:avLst>
          </a:prstGeom>
          <a:solidFill>
            <a:schemeClr val="accent1"/>
          </a:solidFill>
          <a:ln/>
        </p:spPr>
      </p:sp>
      <p:sp>
        <p:nvSpPr>
          <p:cNvPr id="8" name="unit 4"/>
          <p:cNvSpPr/>
          <p:nvPr/>
        </p:nvSpPr>
        <p:spPr>
          <a:xfrm>
            <a:off x="8677656" y="1234440"/>
            <a:ext cx="365760" cy="365760"/>
          </a:xfrm>
          <a:prstGeom prst="roundRect">
            <a:avLst>
              <a:gd name="adj" fmla="val 12500"/>
            </a:avLst>
          </a:prstGeom>
          <a:solidFill>
            <a:schemeClr val="accent1"/>
          </a:solidFill>
          <a:ln/>
        </p:spPr>
      </p:sp>
      <p:sp>
        <p:nvSpPr>
          <p:cNvPr id="9" name="unit 5"/>
          <p:cNvSpPr/>
          <p:nvPr/>
        </p:nvSpPr>
        <p:spPr>
          <a:xfrm>
            <a:off x="9116568" y="1234440"/>
            <a:ext cx="365760" cy="365760"/>
          </a:xfrm>
          <a:prstGeom prst="roundRect">
            <a:avLst>
              <a:gd name="adj" fmla="val 12500"/>
            </a:avLst>
          </a:prstGeom>
          <a:solidFill>
            <a:schemeClr val="accent1"/>
          </a:solidFill>
          <a:ln/>
        </p:spPr>
      </p:sp>
      <p:sp>
        <p:nvSpPr>
          <p:cNvPr id="10" name="unit 6"/>
          <p:cNvSpPr/>
          <p:nvPr/>
        </p:nvSpPr>
        <p:spPr>
          <a:xfrm>
            <a:off x="9555480" y="1234440"/>
            <a:ext cx="365760" cy="365760"/>
          </a:xfrm>
          <a:prstGeom prst="roundRect">
            <a:avLst>
              <a:gd name="adj" fmla="val 12500"/>
            </a:avLst>
          </a:prstGeom>
          <a:solidFill>
            <a:schemeClr val="accent1"/>
          </a:solidFill>
          <a:ln/>
        </p:spPr>
      </p:sp>
      <p:sp>
        <p:nvSpPr>
          <p:cNvPr id="11" name="unit 7"/>
          <p:cNvSpPr/>
          <p:nvPr/>
        </p:nvSpPr>
        <p:spPr>
          <a:xfrm>
            <a:off x="9994392" y="1234440"/>
            <a:ext cx="365760" cy="365760"/>
          </a:xfrm>
          <a:prstGeom prst="roundRect">
            <a:avLst>
              <a:gd name="adj" fmla="val 12500"/>
            </a:avLst>
          </a:prstGeom>
          <a:solidFill>
            <a:schemeClr val="accent1"/>
          </a:solidFill>
          <a:ln/>
        </p:spPr>
      </p:sp>
      <p:sp>
        <p:nvSpPr>
          <p:cNvPr id="12" name="unit 8"/>
          <p:cNvSpPr/>
          <p:nvPr/>
        </p:nvSpPr>
        <p:spPr>
          <a:xfrm>
            <a:off x="10433304" y="1234440"/>
            <a:ext cx="365760" cy="365760"/>
          </a:xfrm>
          <a:prstGeom prst="roundRect">
            <a:avLst>
              <a:gd name="adj" fmla="val 12500"/>
            </a:avLst>
          </a:prstGeom>
          <a:solidFill>
            <a:schemeClr val="accent1"/>
          </a:solidFill>
          <a:ln/>
        </p:spPr>
      </p:sp>
      <p:sp>
        <p:nvSpPr>
          <p:cNvPr id="13" name="unit 9"/>
          <p:cNvSpPr/>
          <p:nvPr/>
        </p:nvSpPr>
        <p:spPr>
          <a:xfrm>
            <a:off x="10872216" y="1234440"/>
            <a:ext cx="365760" cy="365760"/>
          </a:xfrm>
          <a:prstGeom prst="roundRect">
            <a:avLst>
              <a:gd name="adj" fmla="val 12500"/>
            </a:avLst>
          </a:prstGeom>
          <a:solidFill>
            <a:schemeClr val="accent1"/>
          </a:solidFill>
          <a:ln/>
        </p:spPr>
      </p:sp>
      <p:sp>
        <p:nvSpPr>
          <p:cNvPr id="14" name="unit 10"/>
          <p:cNvSpPr/>
          <p:nvPr/>
        </p:nvSpPr>
        <p:spPr>
          <a:xfrm>
            <a:off x="11311128" y="1234440"/>
            <a:ext cx="365760" cy="365760"/>
          </a:xfrm>
          <a:prstGeom prst="roundRect">
            <a:avLst>
              <a:gd name="adj" fmla="val 12500"/>
            </a:avLst>
          </a:prstGeom>
          <a:solidFill>
            <a:schemeClr val="accent1"/>
          </a:solidFill>
          <a:ln/>
        </p:spPr>
      </p:sp>
      <p:sp>
        <p:nvSpPr>
          <p:cNvPr id="15" name="unit 11"/>
          <p:cNvSpPr/>
          <p:nvPr/>
        </p:nvSpPr>
        <p:spPr>
          <a:xfrm>
            <a:off x="7360920" y="1673352"/>
            <a:ext cx="365760" cy="365760"/>
          </a:xfrm>
          <a:prstGeom prst="roundRect">
            <a:avLst>
              <a:gd name="adj" fmla="val 12500"/>
            </a:avLst>
          </a:prstGeom>
          <a:solidFill>
            <a:schemeClr val="accent1"/>
          </a:solidFill>
          <a:ln/>
        </p:spPr>
      </p:sp>
      <p:sp>
        <p:nvSpPr>
          <p:cNvPr id="16" name="unit 12"/>
          <p:cNvSpPr/>
          <p:nvPr/>
        </p:nvSpPr>
        <p:spPr>
          <a:xfrm>
            <a:off x="7799832" y="1673352"/>
            <a:ext cx="365760" cy="365760"/>
          </a:xfrm>
          <a:prstGeom prst="roundRect">
            <a:avLst>
              <a:gd name="adj" fmla="val 12500"/>
            </a:avLst>
          </a:prstGeom>
          <a:solidFill>
            <a:schemeClr val="accent1"/>
          </a:solidFill>
          <a:ln/>
        </p:spPr>
      </p:sp>
      <p:sp>
        <p:nvSpPr>
          <p:cNvPr id="17" name="unit 13"/>
          <p:cNvSpPr/>
          <p:nvPr/>
        </p:nvSpPr>
        <p:spPr>
          <a:xfrm>
            <a:off x="8238744" y="1673352"/>
            <a:ext cx="365760" cy="365760"/>
          </a:xfrm>
          <a:prstGeom prst="roundRect">
            <a:avLst>
              <a:gd name="adj" fmla="val 12500"/>
            </a:avLst>
          </a:prstGeom>
          <a:solidFill>
            <a:schemeClr val="accent1"/>
          </a:solidFill>
          <a:ln/>
        </p:spPr>
      </p:sp>
      <p:sp>
        <p:nvSpPr>
          <p:cNvPr id="18" name="unit 14"/>
          <p:cNvSpPr/>
          <p:nvPr/>
        </p:nvSpPr>
        <p:spPr>
          <a:xfrm>
            <a:off x="8677656" y="1673352"/>
            <a:ext cx="365760" cy="365760"/>
          </a:xfrm>
          <a:prstGeom prst="roundRect">
            <a:avLst>
              <a:gd name="adj" fmla="val 12500"/>
            </a:avLst>
          </a:prstGeom>
          <a:solidFill>
            <a:schemeClr val="accent1"/>
          </a:solidFill>
          <a:ln/>
        </p:spPr>
      </p:sp>
      <p:sp>
        <p:nvSpPr>
          <p:cNvPr id="19" name="unit 15"/>
          <p:cNvSpPr/>
          <p:nvPr/>
        </p:nvSpPr>
        <p:spPr>
          <a:xfrm>
            <a:off x="9116568" y="1673352"/>
            <a:ext cx="365760" cy="365760"/>
          </a:xfrm>
          <a:prstGeom prst="roundRect">
            <a:avLst>
              <a:gd name="adj" fmla="val 12500"/>
            </a:avLst>
          </a:prstGeom>
          <a:solidFill>
            <a:schemeClr val="accent1"/>
          </a:solidFill>
          <a:ln/>
        </p:spPr>
      </p:sp>
      <p:sp>
        <p:nvSpPr>
          <p:cNvPr id="20" name="unit 16"/>
          <p:cNvSpPr/>
          <p:nvPr/>
        </p:nvSpPr>
        <p:spPr>
          <a:xfrm>
            <a:off x="9555480" y="1673352"/>
            <a:ext cx="365760" cy="365760"/>
          </a:xfrm>
          <a:prstGeom prst="roundRect">
            <a:avLst>
              <a:gd name="adj" fmla="val 12500"/>
            </a:avLst>
          </a:prstGeom>
          <a:solidFill>
            <a:schemeClr val="accent1"/>
          </a:solidFill>
          <a:ln/>
        </p:spPr>
      </p:sp>
      <p:sp>
        <p:nvSpPr>
          <p:cNvPr id="21" name="unit 17"/>
          <p:cNvSpPr/>
          <p:nvPr/>
        </p:nvSpPr>
        <p:spPr>
          <a:xfrm>
            <a:off x="9994392" y="1673352"/>
            <a:ext cx="365760" cy="365760"/>
          </a:xfrm>
          <a:prstGeom prst="roundRect">
            <a:avLst>
              <a:gd name="adj" fmla="val 12500"/>
            </a:avLst>
          </a:prstGeom>
          <a:solidFill>
            <a:schemeClr val="accent1"/>
          </a:solidFill>
          <a:ln/>
        </p:spPr>
      </p:sp>
      <p:sp>
        <p:nvSpPr>
          <p:cNvPr id="22" name="unit 18"/>
          <p:cNvSpPr/>
          <p:nvPr/>
        </p:nvSpPr>
        <p:spPr>
          <a:xfrm>
            <a:off x="10433304" y="1673352"/>
            <a:ext cx="365760" cy="365760"/>
          </a:xfrm>
          <a:prstGeom prst="roundRect">
            <a:avLst>
              <a:gd name="adj" fmla="val 12500"/>
            </a:avLst>
          </a:prstGeom>
          <a:solidFill>
            <a:schemeClr val="accent1"/>
          </a:solidFill>
          <a:ln/>
        </p:spPr>
      </p:sp>
      <p:sp>
        <p:nvSpPr>
          <p:cNvPr id="23" name="unit 19"/>
          <p:cNvSpPr/>
          <p:nvPr/>
        </p:nvSpPr>
        <p:spPr>
          <a:xfrm>
            <a:off x="10872216" y="1673352"/>
            <a:ext cx="365760" cy="365760"/>
          </a:xfrm>
          <a:prstGeom prst="roundRect">
            <a:avLst>
              <a:gd name="adj" fmla="val 12500"/>
            </a:avLst>
          </a:prstGeom>
          <a:solidFill>
            <a:schemeClr val="accent1"/>
          </a:solidFill>
          <a:ln/>
        </p:spPr>
      </p:sp>
      <p:sp>
        <p:nvSpPr>
          <p:cNvPr id="24" name="unit 20"/>
          <p:cNvSpPr/>
          <p:nvPr/>
        </p:nvSpPr>
        <p:spPr>
          <a:xfrm>
            <a:off x="11311128" y="1673352"/>
            <a:ext cx="365760" cy="365760"/>
          </a:xfrm>
          <a:prstGeom prst="roundRect">
            <a:avLst>
              <a:gd name="adj" fmla="val 12500"/>
            </a:avLst>
          </a:prstGeom>
          <a:solidFill>
            <a:schemeClr val="accent1"/>
          </a:solidFill>
          <a:ln/>
        </p:spPr>
      </p:sp>
      <p:sp>
        <p:nvSpPr>
          <p:cNvPr id="25" name="unit 21"/>
          <p:cNvSpPr/>
          <p:nvPr/>
        </p:nvSpPr>
        <p:spPr>
          <a:xfrm>
            <a:off x="7360920" y="2112264"/>
            <a:ext cx="365760" cy="365760"/>
          </a:xfrm>
          <a:prstGeom prst="roundRect">
            <a:avLst>
              <a:gd name="adj" fmla="val 12500"/>
            </a:avLst>
          </a:prstGeom>
          <a:solidFill>
            <a:schemeClr val="accent1"/>
          </a:solidFill>
          <a:ln/>
        </p:spPr>
      </p:sp>
      <p:sp>
        <p:nvSpPr>
          <p:cNvPr id="26" name="unit 22"/>
          <p:cNvSpPr/>
          <p:nvPr/>
        </p:nvSpPr>
        <p:spPr>
          <a:xfrm>
            <a:off x="7799832" y="2112264"/>
            <a:ext cx="365760" cy="365760"/>
          </a:xfrm>
          <a:prstGeom prst="roundRect">
            <a:avLst>
              <a:gd name="adj" fmla="val 12500"/>
            </a:avLst>
          </a:prstGeom>
          <a:solidFill>
            <a:schemeClr val="accent1"/>
          </a:solidFill>
          <a:ln/>
        </p:spPr>
      </p:sp>
      <p:sp>
        <p:nvSpPr>
          <p:cNvPr id="27" name="unit 23"/>
          <p:cNvSpPr/>
          <p:nvPr/>
        </p:nvSpPr>
        <p:spPr>
          <a:xfrm>
            <a:off x="8238744" y="2112264"/>
            <a:ext cx="365760" cy="365760"/>
          </a:xfrm>
          <a:prstGeom prst="roundRect">
            <a:avLst>
              <a:gd name="adj" fmla="val 12500"/>
            </a:avLst>
          </a:prstGeom>
          <a:solidFill>
            <a:schemeClr val="accent1"/>
          </a:solidFill>
          <a:ln/>
        </p:spPr>
      </p:sp>
      <p:sp>
        <p:nvSpPr>
          <p:cNvPr id="28" name="unit 24"/>
          <p:cNvSpPr/>
          <p:nvPr/>
        </p:nvSpPr>
        <p:spPr>
          <a:xfrm>
            <a:off x="8677656" y="2112264"/>
            <a:ext cx="365760" cy="365760"/>
          </a:xfrm>
          <a:prstGeom prst="roundRect">
            <a:avLst>
              <a:gd name="adj" fmla="val 12500"/>
            </a:avLst>
          </a:prstGeom>
          <a:solidFill>
            <a:schemeClr val="accent1"/>
          </a:solidFill>
          <a:ln/>
        </p:spPr>
      </p:sp>
      <p:sp>
        <p:nvSpPr>
          <p:cNvPr id="29" name="unit 25"/>
          <p:cNvSpPr/>
          <p:nvPr/>
        </p:nvSpPr>
        <p:spPr>
          <a:xfrm>
            <a:off x="9116568" y="2112264"/>
            <a:ext cx="365760" cy="365760"/>
          </a:xfrm>
          <a:prstGeom prst="roundRect">
            <a:avLst>
              <a:gd name="adj" fmla="val 12500"/>
            </a:avLst>
          </a:prstGeom>
          <a:solidFill>
            <a:schemeClr val="accent1"/>
          </a:solidFill>
          <a:ln/>
        </p:spPr>
      </p:sp>
      <p:sp>
        <p:nvSpPr>
          <p:cNvPr id="30" name="unit 26"/>
          <p:cNvSpPr/>
          <p:nvPr/>
        </p:nvSpPr>
        <p:spPr>
          <a:xfrm>
            <a:off x="9555480" y="2112264"/>
            <a:ext cx="365760" cy="365760"/>
          </a:xfrm>
          <a:prstGeom prst="roundRect">
            <a:avLst>
              <a:gd name="adj" fmla="val 12500"/>
            </a:avLst>
          </a:prstGeom>
          <a:solidFill>
            <a:schemeClr val="accent1"/>
          </a:solidFill>
          <a:ln/>
        </p:spPr>
      </p:sp>
      <p:sp>
        <p:nvSpPr>
          <p:cNvPr id="31" name="unit 27"/>
          <p:cNvSpPr/>
          <p:nvPr/>
        </p:nvSpPr>
        <p:spPr>
          <a:xfrm>
            <a:off x="9994392" y="2112264"/>
            <a:ext cx="365760" cy="365760"/>
          </a:xfrm>
          <a:prstGeom prst="roundRect">
            <a:avLst>
              <a:gd name="adj" fmla="val 12500"/>
            </a:avLst>
          </a:prstGeom>
          <a:solidFill>
            <a:schemeClr val="accent1"/>
          </a:solidFill>
          <a:ln/>
        </p:spPr>
      </p:sp>
      <p:sp>
        <p:nvSpPr>
          <p:cNvPr id="32" name="unit 28"/>
          <p:cNvSpPr/>
          <p:nvPr/>
        </p:nvSpPr>
        <p:spPr>
          <a:xfrm>
            <a:off x="10433304" y="2112264"/>
            <a:ext cx="365760" cy="365760"/>
          </a:xfrm>
          <a:prstGeom prst="roundRect">
            <a:avLst>
              <a:gd name="adj" fmla="val 12500"/>
            </a:avLst>
          </a:prstGeom>
          <a:solidFill>
            <a:schemeClr val="accent1"/>
          </a:solidFill>
          <a:ln/>
        </p:spPr>
      </p:sp>
      <p:sp>
        <p:nvSpPr>
          <p:cNvPr id="33" name="unit 29"/>
          <p:cNvSpPr/>
          <p:nvPr/>
        </p:nvSpPr>
        <p:spPr>
          <a:xfrm>
            <a:off x="10872216" y="2112264"/>
            <a:ext cx="365760" cy="365760"/>
          </a:xfrm>
          <a:prstGeom prst="roundRect">
            <a:avLst>
              <a:gd name="adj" fmla="val 12500"/>
            </a:avLst>
          </a:prstGeom>
          <a:solidFill>
            <a:schemeClr val="accent1"/>
          </a:solidFill>
          <a:ln/>
        </p:spPr>
      </p:sp>
      <p:sp>
        <p:nvSpPr>
          <p:cNvPr id="34" name="unit 30"/>
          <p:cNvSpPr/>
          <p:nvPr/>
        </p:nvSpPr>
        <p:spPr>
          <a:xfrm>
            <a:off x="11311128" y="2112264"/>
            <a:ext cx="365760" cy="365760"/>
          </a:xfrm>
          <a:prstGeom prst="roundRect">
            <a:avLst>
              <a:gd name="adj" fmla="val 12500"/>
            </a:avLst>
          </a:prstGeom>
          <a:solidFill>
            <a:schemeClr val="accent1"/>
          </a:solidFill>
          <a:ln/>
        </p:spPr>
      </p:sp>
      <p:sp>
        <p:nvSpPr>
          <p:cNvPr id="35" name="unit 31"/>
          <p:cNvSpPr/>
          <p:nvPr/>
        </p:nvSpPr>
        <p:spPr>
          <a:xfrm>
            <a:off x="7360920" y="2551176"/>
            <a:ext cx="365760" cy="365760"/>
          </a:xfrm>
          <a:prstGeom prst="roundRect">
            <a:avLst>
              <a:gd name="adj" fmla="val 12500"/>
            </a:avLst>
          </a:prstGeom>
          <a:solidFill>
            <a:schemeClr val="accent1"/>
          </a:solidFill>
          <a:ln/>
        </p:spPr>
      </p:sp>
      <p:sp>
        <p:nvSpPr>
          <p:cNvPr id="36" name="unit 32"/>
          <p:cNvSpPr/>
          <p:nvPr/>
        </p:nvSpPr>
        <p:spPr>
          <a:xfrm>
            <a:off x="7799832" y="2551176"/>
            <a:ext cx="365760" cy="365760"/>
          </a:xfrm>
          <a:prstGeom prst="roundRect">
            <a:avLst>
              <a:gd name="adj" fmla="val 12500"/>
            </a:avLst>
          </a:prstGeom>
          <a:solidFill>
            <a:schemeClr val="accent1"/>
          </a:solidFill>
          <a:ln/>
        </p:spPr>
      </p:sp>
      <p:sp>
        <p:nvSpPr>
          <p:cNvPr id="37" name="unit 33"/>
          <p:cNvSpPr/>
          <p:nvPr/>
        </p:nvSpPr>
        <p:spPr>
          <a:xfrm>
            <a:off x="8238744" y="2551176"/>
            <a:ext cx="365760" cy="365760"/>
          </a:xfrm>
          <a:prstGeom prst="roundRect">
            <a:avLst>
              <a:gd name="adj" fmla="val 12500"/>
            </a:avLst>
          </a:prstGeom>
          <a:solidFill>
            <a:schemeClr val="accent1"/>
          </a:solidFill>
          <a:ln/>
        </p:spPr>
      </p:sp>
      <p:sp>
        <p:nvSpPr>
          <p:cNvPr id="38" name="unit 34"/>
          <p:cNvSpPr/>
          <p:nvPr/>
        </p:nvSpPr>
        <p:spPr>
          <a:xfrm>
            <a:off x="8677656" y="2551176"/>
            <a:ext cx="365760" cy="365760"/>
          </a:xfrm>
          <a:prstGeom prst="roundRect">
            <a:avLst>
              <a:gd name="adj" fmla="val 12500"/>
            </a:avLst>
          </a:prstGeom>
          <a:solidFill>
            <a:schemeClr val="accent1"/>
          </a:solidFill>
          <a:ln/>
        </p:spPr>
      </p:sp>
      <p:sp>
        <p:nvSpPr>
          <p:cNvPr id="39" name="unit 35"/>
          <p:cNvSpPr/>
          <p:nvPr/>
        </p:nvSpPr>
        <p:spPr>
          <a:xfrm>
            <a:off x="9116568" y="2551176"/>
            <a:ext cx="365760" cy="365760"/>
          </a:xfrm>
          <a:prstGeom prst="roundRect">
            <a:avLst>
              <a:gd name="adj" fmla="val 12500"/>
            </a:avLst>
          </a:prstGeom>
          <a:solidFill>
            <a:schemeClr val="accent1"/>
          </a:solidFill>
          <a:ln/>
        </p:spPr>
      </p:sp>
      <p:sp>
        <p:nvSpPr>
          <p:cNvPr id="40" name="unit 36"/>
          <p:cNvSpPr/>
          <p:nvPr/>
        </p:nvSpPr>
        <p:spPr>
          <a:xfrm>
            <a:off x="9555480" y="2551176"/>
            <a:ext cx="365760" cy="365760"/>
          </a:xfrm>
          <a:prstGeom prst="roundRect">
            <a:avLst>
              <a:gd name="adj" fmla="val 12500"/>
            </a:avLst>
          </a:prstGeom>
          <a:solidFill>
            <a:schemeClr val="accent1"/>
          </a:solidFill>
          <a:ln/>
        </p:spPr>
      </p:sp>
      <p:sp>
        <p:nvSpPr>
          <p:cNvPr id="41" name="unit 37"/>
          <p:cNvSpPr/>
          <p:nvPr/>
        </p:nvSpPr>
        <p:spPr>
          <a:xfrm>
            <a:off x="9994392" y="2551176"/>
            <a:ext cx="365760" cy="365760"/>
          </a:xfrm>
          <a:prstGeom prst="roundRect">
            <a:avLst>
              <a:gd name="adj" fmla="val 12500"/>
            </a:avLst>
          </a:prstGeom>
          <a:solidFill>
            <a:schemeClr val="accent1"/>
          </a:solidFill>
          <a:ln/>
        </p:spPr>
      </p:sp>
      <p:sp>
        <p:nvSpPr>
          <p:cNvPr id="42" name="unit 38"/>
          <p:cNvSpPr/>
          <p:nvPr/>
        </p:nvSpPr>
        <p:spPr>
          <a:xfrm>
            <a:off x="10433304" y="2551176"/>
            <a:ext cx="365760" cy="365760"/>
          </a:xfrm>
          <a:prstGeom prst="roundRect">
            <a:avLst>
              <a:gd name="adj" fmla="val 12500"/>
            </a:avLst>
          </a:prstGeom>
          <a:solidFill>
            <a:schemeClr val="accent1"/>
          </a:solidFill>
          <a:ln/>
        </p:spPr>
      </p:sp>
      <p:sp>
        <p:nvSpPr>
          <p:cNvPr id="43" name="unit 39"/>
          <p:cNvSpPr/>
          <p:nvPr/>
        </p:nvSpPr>
        <p:spPr>
          <a:xfrm>
            <a:off x="10872216" y="2551176"/>
            <a:ext cx="365760" cy="365760"/>
          </a:xfrm>
          <a:prstGeom prst="roundRect">
            <a:avLst>
              <a:gd name="adj" fmla="val 12500"/>
            </a:avLst>
          </a:prstGeom>
          <a:solidFill>
            <a:schemeClr val="accent1"/>
          </a:solidFill>
          <a:ln/>
        </p:spPr>
      </p:sp>
      <p:sp>
        <p:nvSpPr>
          <p:cNvPr id="44" name="unit 40"/>
          <p:cNvSpPr/>
          <p:nvPr/>
        </p:nvSpPr>
        <p:spPr>
          <a:xfrm>
            <a:off x="11311128" y="2551176"/>
            <a:ext cx="365760" cy="365760"/>
          </a:xfrm>
          <a:prstGeom prst="roundRect">
            <a:avLst>
              <a:gd name="adj" fmla="val 12500"/>
            </a:avLst>
          </a:prstGeom>
          <a:solidFill>
            <a:schemeClr val="accent1"/>
          </a:solidFill>
          <a:ln/>
        </p:spPr>
      </p:sp>
      <p:sp>
        <p:nvSpPr>
          <p:cNvPr id="45" name="unit 41"/>
          <p:cNvSpPr/>
          <p:nvPr/>
        </p:nvSpPr>
        <p:spPr>
          <a:xfrm>
            <a:off x="7360920" y="2990088"/>
            <a:ext cx="365760" cy="365760"/>
          </a:xfrm>
          <a:prstGeom prst="roundRect">
            <a:avLst>
              <a:gd name="adj" fmla="val 12500"/>
            </a:avLst>
          </a:prstGeom>
          <a:solidFill>
            <a:schemeClr val="accent1"/>
          </a:solidFill>
          <a:ln/>
        </p:spPr>
      </p:sp>
      <p:sp>
        <p:nvSpPr>
          <p:cNvPr id="46" name="unit 42"/>
          <p:cNvSpPr/>
          <p:nvPr/>
        </p:nvSpPr>
        <p:spPr>
          <a:xfrm>
            <a:off x="7799832" y="2990088"/>
            <a:ext cx="365760" cy="365760"/>
          </a:xfrm>
          <a:prstGeom prst="roundRect">
            <a:avLst>
              <a:gd name="adj" fmla="val 12500"/>
            </a:avLst>
          </a:prstGeom>
          <a:solidFill>
            <a:schemeClr val="accent1"/>
          </a:solidFill>
          <a:ln/>
        </p:spPr>
      </p:sp>
      <p:sp>
        <p:nvSpPr>
          <p:cNvPr id="47" name="unit 43"/>
          <p:cNvSpPr/>
          <p:nvPr/>
        </p:nvSpPr>
        <p:spPr>
          <a:xfrm>
            <a:off x="8238744" y="2990088"/>
            <a:ext cx="365760" cy="365760"/>
          </a:xfrm>
          <a:prstGeom prst="roundRect">
            <a:avLst>
              <a:gd name="adj" fmla="val 12500"/>
            </a:avLst>
          </a:prstGeom>
          <a:solidFill>
            <a:schemeClr val="accent1"/>
          </a:solidFill>
          <a:ln/>
        </p:spPr>
      </p:sp>
      <p:sp>
        <p:nvSpPr>
          <p:cNvPr id="48" name="unit 44"/>
          <p:cNvSpPr/>
          <p:nvPr/>
        </p:nvSpPr>
        <p:spPr>
          <a:xfrm>
            <a:off x="8677656" y="2990088"/>
            <a:ext cx="365760" cy="365760"/>
          </a:xfrm>
          <a:prstGeom prst="roundRect">
            <a:avLst>
              <a:gd name="adj" fmla="val 12500"/>
            </a:avLst>
          </a:prstGeom>
          <a:solidFill>
            <a:schemeClr val="accent1"/>
          </a:solidFill>
          <a:ln/>
        </p:spPr>
      </p:sp>
      <p:sp>
        <p:nvSpPr>
          <p:cNvPr id="49" name="unit 45"/>
          <p:cNvSpPr/>
          <p:nvPr/>
        </p:nvSpPr>
        <p:spPr>
          <a:xfrm>
            <a:off x="9116568" y="2990088"/>
            <a:ext cx="365760" cy="365760"/>
          </a:xfrm>
          <a:prstGeom prst="roundRect">
            <a:avLst>
              <a:gd name="adj" fmla="val 12500"/>
            </a:avLst>
          </a:prstGeom>
          <a:solidFill>
            <a:schemeClr val="accent1"/>
          </a:solidFill>
          <a:ln/>
        </p:spPr>
      </p:sp>
      <p:sp>
        <p:nvSpPr>
          <p:cNvPr id="50" name="unit 46"/>
          <p:cNvSpPr/>
          <p:nvPr/>
        </p:nvSpPr>
        <p:spPr>
          <a:xfrm>
            <a:off x="9555480" y="2990088"/>
            <a:ext cx="365760" cy="365760"/>
          </a:xfrm>
          <a:prstGeom prst="roundRect">
            <a:avLst>
              <a:gd name="adj" fmla="val 12500"/>
            </a:avLst>
          </a:prstGeom>
          <a:solidFill>
            <a:schemeClr val="accent1"/>
          </a:solidFill>
          <a:ln/>
        </p:spPr>
      </p:sp>
      <p:sp>
        <p:nvSpPr>
          <p:cNvPr id="51" name="unit 47"/>
          <p:cNvSpPr/>
          <p:nvPr/>
        </p:nvSpPr>
        <p:spPr>
          <a:xfrm>
            <a:off x="9994392" y="2990088"/>
            <a:ext cx="365760" cy="365760"/>
          </a:xfrm>
          <a:prstGeom prst="roundRect">
            <a:avLst>
              <a:gd name="adj" fmla="val 12500"/>
            </a:avLst>
          </a:prstGeom>
          <a:solidFill>
            <a:schemeClr val="accent1"/>
          </a:solidFill>
          <a:ln/>
        </p:spPr>
      </p:sp>
      <p:sp>
        <p:nvSpPr>
          <p:cNvPr id="52" name="unit 48"/>
          <p:cNvSpPr/>
          <p:nvPr/>
        </p:nvSpPr>
        <p:spPr>
          <a:xfrm>
            <a:off x="10433304" y="2990088"/>
            <a:ext cx="365760" cy="365760"/>
          </a:xfrm>
          <a:prstGeom prst="roundRect">
            <a:avLst>
              <a:gd name="adj" fmla="val 12500"/>
            </a:avLst>
          </a:prstGeom>
          <a:solidFill>
            <a:schemeClr val="accent1"/>
          </a:solidFill>
          <a:ln/>
        </p:spPr>
      </p:sp>
      <p:sp>
        <p:nvSpPr>
          <p:cNvPr id="53" name="unit 49"/>
          <p:cNvSpPr/>
          <p:nvPr/>
        </p:nvSpPr>
        <p:spPr>
          <a:xfrm>
            <a:off x="10872216" y="2990088"/>
            <a:ext cx="365760" cy="365760"/>
          </a:xfrm>
          <a:prstGeom prst="roundRect">
            <a:avLst>
              <a:gd name="adj" fmla="val 12500"/>
            </a:avLst>
          </a:prstGeom>
          <a:solidFill>
            <a:schemeClr val="accent1"/>
          </a:solidFill>
          <a:ln/>
        </p:spPr>
      </p:sp>
      <p:sp>
        <p:nvSpPr>
          <p:cNvPr id="54" name="unit 50"/>
          <p:cNvSpPr/>
          <p:nvPr/>
        </p:nvSpPr>
        <p:spPr>
          <a:xfrm>
            <a:off x="11311128" y="2990088"/>
            <a:ext cx="365760" cy="365760"/>
          </a:xfrm>
          <a:prstGeom prst="roundRect">
            <a:avLst>
              <a:gd name="adj" fmla="val 12500"/>
            </a:avLst>
          </a:prstGeom>
          <a:solidFill>
            <a:schemeClr val="accent1"/>
          </a:solidFill>
          <a:ln/>
        </p:spPr>
      </p:sp>
      <p:sp>
        <p:nvSpPr>
          <p:cNvPr id="55" name="unit 51"/>
          <p:cNvSpPr/>
          <p:nvPr/>
        </p:nvSpPr>
        <p:spPr>
          <a:xfrm>
            <a:off x="7360920" y="3429000"/>
            <a:ext cx="365760" cy="365760"/>
          </a:xfrm>
          <a:prstGeom prst="roundRect">
            <a:avLst>
              <a:gd name="adj" fmla="val 12500"/>
            </a:avLst>
          </a:prstGeom>
          <a:solidFill>
            <a:schemeClr val="accent1"/>
          </a:solidFill>
          <a:ln/>
        </p:spPr>
      </p:sp>
      <p:sp>
        <p:nvSpPr>
          <p:cNvPr id="56" name="unit 52"/>
          <p:cNvSpPr/>
          <p:nvPr/>
        </p:nvSpPr>
        <p:spPr>
          <a:xfrm>
            <a:off x="7799832" y="3429000"/>
            <a:ext cx="365760" cy="365760"/>
          </a:xfrm>
          <a:prstGeom prst="roundRect">
            <a:avLst>
              <a:gd name="adj" fmla="val 12500"/>
            </a:avLst>
          </a:prstGeom>
          <a:solidFill>
            <a:schemeClr val="accent1"/>
          </a:solidFill>
          <a:ln/>
        </p:spPr>
      </p:sp>
      <p:sp>
        <p:nvSpPr>
          <p:cNvPr id="57" name="unit 53"/>
          <p:cNvSpPr/>
          <p:nvPr/>
        </p:nvSpPr>
        <p:spPr>
          <a:xfrm>
            <a:off x="8238744" y="3429000"/>
            <a:ext cx="365760" cy="365760"/>
          </a:xfrm>
          <a:prstGeom prst="roundRect">
            <a:avLst>
              <a:gd name="adj" fmla="val 12500"/>
            </a:avLst>
          </a:prstGeom>
          <a:solidFill>
            <a:schemeClr val="accent1"/>
          </a:solidFill>
          <a:ln/>
        </p:spPr>
      </p:sp>
      <p:sp>
        <p:nvSpPr>
          <p:cNvPr id="58" name="unit 54"/>
          <p:cNvSpPr/>
          <p:nvPr/>
        </p:nvSpPr>
        <p:spPr>
          <a:xfrm>
            <a:off x="8677656" y="3429000"/>
            <a:ext cx="365760" cy="365760"/>
          </a:xfrm>
          <a:prstGeom prst="roundRect">
            <a:avLst>
              <a:gd name="adj" fmla="val 12500"/>
            </a:avLst>
          </a:prstGeom>
          <a:solidFill>
            <a:schemeClr val="accent1"/>
          </a:solidFill>
          <a:ln/>
        </p:spPr>
      </p:sp>
      <p:sp>
        <p:nvSpPr>
          <p:cNvPr id="59" name="unit 55"/>
          <p:cNvSpPr/>
          <p:nvPr/>
        </p:nvSpPr>
        <p:spPr>
          <a:xfrm>
            <a:off x="9116568" y="3429000"/>
            <a:ext cx="365760" cy="365760"/>
          </a:xfrm>
          <a:prstGeom prst="roundRect">
            <a:avLst>
              <a:gd name="adj" fmla="val 12500"/>
            </a:avLst>
          </a:prstGeom>
          <a:solidFill>
            <a:schemeClr val="accent1"/>
          </a:solidFill>
          <a:ln/>
        </p:spPr>
      </p:sp>
      <p:sp>
        <p:nvSpPr>
          <p:cNvPr id="60" name="unit 56"/>
          <p:cNvSpPr/>
          <p:nvPr/>
        </p:nvSpPr>
        <p:spPr>
          <a:xfrm>
            <a:off x="9555480" y="3429000"/>
            <a:ext cx="365760" cy="365760"/>
          </a:xfrm>
          <a:prstGeom prst="roundRect">
            <a:avLst>
              <a:gd name="adj" fmla="val 12500"/>
            </a:avLst>
          </a:prstGeom>
          <a:solidFill>
            <a:schemeClr val="accent1"/>
          </a:solidFill>
          <a:ln/>
        </p:spPr>
      </p:sp>
      <p:sp>
        <p:nvSpPr>
          <p:cNvPr id="61" name="unit 57"/>
          <p:cNvSpPr/>
          <p:nvPr/>
        </p:nvSpPr>
        <p:spPr>
          <a:xfrm>
            <a:off x="9994392" y="3429000"/>
            <a:ext cx="365760" cy="365760"/>
          </a:xfrm>
          <a:prstGeom prst="roundRect">
            <a:avLst>
              <a:gd name="adj" fmla="val 12500"/>
            </a:avLst>
          </a:prstGeom>
          <a:solidFill>
            <a:schemeClr val="accent1"/>
          </a:solidFill>
          <a:ln/>
        </p:spPr>
      </p:sp>
      <p:sp>
        <p:nvSpPr>
          <p:cNvPr id="62" name="unit 58"/>
          <p:cNvSpPr/>
          <p:nvPr/>
        </p:nvSpPr>
        <p:spPr>
          <a:xfrm>
            <a:off x="10433304" y="3429000"/>
            <a:ext cx="365760" cy="365760"/>
          </a:xfrm>
          <a:prstGeom prst="roundRect">
            <a:avLst>
              <a:gd name="adj" fmla="val 12500"/>
            </a:avLst>
          </a:prstGeom>
          <a:solidFill>
            <a:schemeClr val="accent1"/>
          </a:solidFill>
          <a:ln/>
        </p:spPr>
      </p:sp>
      <p:sp>
        <p:nvSpPr>
          <p:cNvPr id="63" name="unit 59"/>
          <p:cNvSpPr/>
          <p:nvPr/>
        </p:nvSpPr>
        <p:spPr>
          <a:xfrm>
            <a:off x="10872216" y="3429000"/>
            <a:ext cx="365760" cy="365760"/>
          </a:xfrm>
          <a:prstGeom prst="roundRect">
            <a:avLst>
              <a:gd name="adj" fmla="val 12500"/>
            </a:avLst>
          </a:prstGeom>
          <a:solidFill>
            <a:schemeClr val="accent1"/>
          </a:solidFill>
          <a:ln/>
        </p:spPr>
      </p:sp>
      <p:sp>
        <p:nvSpPr>
          <p:cNvPr id="64" name="unit 60"/>
          <p:cNvSpPr/>
          <p:nvPr/>
        </p:nvSpPr>
        <p:spPr>
          <a:xfrm>
            <a:off x="11311128" y="3429000"/>
            <a:ext cx="365760" cy="365760"/>
          </a:xfrm>
          <a:prstGeom prst="roundRect">
            <a:avLst>
              <a:gd name="adj" fmla="val 12500"/>
            </a:avLst>
          </a:prstGeom>
          <a:solidFill>
            <a:schemeClr val="accent1"/>
          </a:solidFill>
          <a:ln/>
        </p:spPr>
      </p:sp>
      <p:sp>
        <p:nvSpPr>
          <p:cNvPr id="65" name="unit 61"/>
          <p:cNvSpPr/>
          <p:nvPr/>
        </p:nvSpPr>
        <p:spPr>
          <a:xfrm>
            <a:off x="7360920" y="3867912"/>
            <a:ext cx="365760" cy="365760"/>
          </a:xfrm>
          <a:prstGeom prst="roundRect">
            <a:avLst>
              <a:gd name="adj" fmla="val 12500"/>
            </a:avLst>
          </a:prstGeom>
          <a:solidFill>
            <a:schemeClr val="accent1"/>
          </a:solidFill>
          <a:ln/>
        </p:spPr>
      </p:sp>
      <p:sp>
        <p:nvSpPr>
          <p:cNvPr id="66" name="unit 62"/>
          <p:cNvSpPr/>
          <p:nvPr/>
        </p:nvSpPr>
        <p:spPr>
          <a:xfrm>
            <a:off x="7799832" y="3867912"/>
            <a:ext cx="365760" cy="365760"/>
          </a:xfrm>
          <a:prstGeom prst="roundRect">
            <a:avLst>
              <a:gd name="adj" fmla="val 12500"/>
            </a:avLst>
          </a:prstGeom>
          <a:solidFill>
            <a:schemeClr val="accent1"/>
          </a:solidFill>
          <a:ln/>
        </p:spPr>
      </p:sp>
      <p:sp>
        <p:nvSpPr>
          <p:cNvPr id="67" name="unit 63"/>
          <p:cNvSpPr/>
          <p:nvPr/>
        </p:nvSpPr>
        <p:spPr>
          <a:xfrm>
            <a:off x="8238744" y="3867912"/>
            <a:ext cx="365760" cy="365760"/>
          </a:xfrm>
          <a:prstGeom prst="roundRect">
            <a:avLst>
              <a:gd name="adj" fmla="val 12500"/>
            </a:avLst>
          </a:prstGeom>
          <a:solidFill>
            <a:schemeClr val="accent1"/>
          </a:solidFill>
          <a:ln/>
        </p:spPr>
      </p:sp>
      <p:sp>
        <p:nvSpPr>
          <p:cNvPr id="68" name="unit 64"/>
          <p:cNvSpPr/>
          <p:nvPr/>
        </p:nvSpPr>
        <p:spPr>
          <a:xfrm>
            <a:off x="8677656" y="3867912"/>
            <a:ext cx="365760" cy="365760"/>
          </a:xfrm>
          <a:prstGeom prst="roundRect">
            <a:avLst>
              <a:gd name="adj" fmla="val 12500"/>
            </a:avLst>
          </a:prstGeom>
          <a:solidFill>
            <a:schemeClr val="accent1"/>
          </a:solidFill>
          <a:ln/>
        </p:spPr>
      </p:sp>
      <p:sp>
        <p:nvSpPr>
          <p:cNvPr id="69" name="unit 65"/>
          <p:cNvSpPr/>
          <p:nvPr/>
        </p:nvSpPr>
        <p:spPr>
          <a:xfrm>
            <a:off x="9116568" y="3867912"/>
            <a:ext cx="365760" cy="365760"/>
          </a:xfrm>
          <a:prstGeom prst="roundRect">
            <a:avLst>
              <a:gd name="adj" fmla="val 12500"/>
            </a:avLst>
          </a:prstGeom>
          <a:solidFill>
            <a:schemeClr val="accent1"/>
          </a:solidFill>
          <a:ln/>
        </p:spPr>
      </p:sp>
      <p:sp>
        <p:nvSpPr>
          <p:cNvPr id="70" name="unit 66"/>
          <p:cNvSpPr/>
          <p:nvPr/>
        </p:nvSpPr>
        <p:spPr>
          <a:xfrm>
            <a:off x="9555480" y="3867912"/>
            <a:ext cx="365760" cy="365760"/>
          </a:xfrm>
          <a:prstGeom prst="roundRect">
            <a:avLst>
              <a:gd name="adj" fmla="val 12500"/>
            </a:avLst>
          </a:prstGeom>
          <a:solidFill>
            <a:schemeClr val="accent1"/>
          </a:solidFill>
          <a:ln/>
        </p:spPr>
      </p:sp>
      <p:sp>
        <p:nvSpPr>
          <p:cNvPr id="71" name="unit 67"/>
          <p:cNvSpPr/>
          <p:nvPr/>
        </p:nvSpPr>
        <p:spPr>
          <a:xfrm>
            <a:off x="9994392" y="3867912"/>
            <a:ext cx="365760" cy="365760"/>
          </a:xfrm>
          <a:prstGeom prst="roundRect">
            <a:avLst>
              <a:gd name="adj" fmla="val 12500"/>
            </a:avLst>
          </a:prstGeom>
          <a:solidFill>
            <a:schemeClr val="accent1"/>
          </a:solidFill>
          <a:ln/>
        </p:spPr>
      </p:sp>
      <p:sp>
        <p:nvSpPr>
          <p:cNvPr id="72" name="unit 68"/>
          <p:cNvSpPr/>
          <p:nvPr/>
        </p:nvSpPr>
        <p:spPr>
          <a:xfrm>
            <a:off x="10433304" y="3867912"/>
            <a:ext cx="365760" cy="365760"/>
          </a:xfrm>
          <a:prstGeom prst="roundRect">
            <a:avLst>
              <a:gd name="adj" fmla="val 12500"/>
            </a:avLst>
          </a:prstGeom>
          <a:solidFill>
            <a:schemeClr val="accent1"/>
          </a:solidFill>
          <a:ln/>
        </p:spPr>
      </p:sp>
      <p:sp>
        <p:nvSpPr>
          <p:cNvPr id="73" name="unit 69"/>
          <p:cNvSpPr/>
          <p:nvPr/>
        </p:nvSpPr>
        <p:spPr>
          <a:xfrm>
            <a:off x="10872216" y="3867912"/>
            <a:ext cx="365760" cy="365760"/>
          </a:xfrm>
          <a:prstGeom prst="roundRect">
            <a:avLst>
              <a:gd name="adj" fmla="val 12500"/>
            </a:avLst>
          </a:prstGeom>
          <a:solidFill>
            <a:schemeClr val="accent1"/>
          </a:solidFill>
          <a:ln/>
        </p:spPr>
      </p:sp>
      <p:sp>
        <p:nvSpPr>
          <p:cNvPr id="74" name="unit 70"/>
          <p:cNvSpPr/>
          <p:nvPr/>
        </p:nvSpPr>
        <p:spPr>
          <a:xfrm>
            <a:off x="11311128" y="3867912"/>
            <a:ext cx="365760" cy="365760"/>
          </a:xfrm>
          <a:prstGeom prst="roundRect">
            <a:avLst>
              <a:gd name="adj" fmla="val 12500"/>
            </a:avLst>
          </a:prstGeom>
          <a:solidFill>
            <a:schemeClr val="accent1"/>
          </a:solidFill>
          <a:ln/>
        </p:spPr>
      </p:sp>
      <p:sp>
        <p:nvSpPr>
          <p:cNvPr id="75" name="unit 71"/>
          <p:cNvSpPr/>
          <p:nvPr/>
        </p:nvSpPr>
        <p:spPr>
          <a:xfrm>
            <a:off x="7360920" y="4306824"/>
            <a:ext cx="365760" cy="365760"/>
          </a:xfrm>
          <a:prstGeom prst="roundRect">
            <a:avLst>
              <a:gd name="adj" fmla="val 12500"/>
            </a:avLst>
          </a:prstGeom>
          <a:solidFill>
            <a:schemeClr val="accent1"/>
          </a:solidFill>
          <a:ln/>
        </p:spPr>
      </p:sp>
      <p:sp>
        <p:nvSpPr>
          <p:cNvPr id="76" name="unit 72"/>
          <p:cNvSpPr/>
          <p:nvPr/>
        </p:nvSpPr>
        <p:spPr>
          <a:xfrm>
            <a:off x="7799832" y="4306824"/>
            <a:ext cx="365760" cy="365760"/>
          </a:xfrm>
          <a:prstGeom prst="roundRect">
            <a:avLst>
              <a:gd name="adj" fmla="val 12500"/>
            </a:avLst>
          </a:prstGeom>
          <a:solidFill>
            <a:schemeClr val="accent1"/>
          </a:solidFill>
          <a:ln/>
        </p:spPr>
      </p:sp>
      <p:sp>
        <p:nvSpPr>
          <p:cNvPr id="77" name="unit 73"/>
          <p:cNvSpPr/>
          <p:nvPr/>
        </p:nvSpPr>
        <p:spPr>
          <a:xfrm>
            <a:off x="8238744" y="4306824"/>
            <a:ext cx="365760" cy="365760"/>
          </a:xfrm>
          <a:prstGeom prst="roundRect">
            <a:avLst>
              <a:gd name="adj" fmla="val 12500"/>
            </a:avLst>
          </a:prstGeom>
          <a:solidFill>
            <a:schemeClr val="accent1"/>
          </a:solidFill>
          <a:ln/>
        </p:spPr>
      </p:sp>
      <p:sp>
        <p:nvSpPr>
          <p:cNvPr id="78" name="unit 74"/>
          <p:cNvSpPr/>
          <p:nvPr/>
        </p:nvSpPr>
        <p:spPr>
          <a:xfrm>
            <a:off x="8677656" y="4306824"/>
            <a:ext cx="365760" cy="365760"/>
          </a:xfrm>
          <a:prstGeom prst="roundRect">
            <a:avLst>
              <a:gd name="adj" fmla="val 12500"/>
            </a:avLst>
          </a:prstGeom>
          <a:solidFill>
            <a:schemeClr val="accent1"/>
          </a:solidFill>
          <a:ln/>
        </p:spPr>
      </p:sp>
      <p:sp>
        <p:nvSpPr>
          <p:cNvPr id="79" name="unit 75"/>
          <p:cNvSpPr/>
          <p:nvPr/>
        </p:nvSpPr>
        <p:spPr>
          <a:xfrm>
            <a:off x="9116568" y="4306824"/>
            <a:ext cx="365760" cy="365760"/>
          </a:xfrm>
          <a:prstGeom prst="roundRect">
            <a:avLst>
              <a:gd name="adj" fmla="val 12500"/>
            </a:avLst>
          </a:prstGeom>
          <a:solidFill>
            <a:schemeClr val="accent1"/>
          </a:solidFill>
          <a:ln/>
        </p:spPr>
      </p:sp>
      <p:sp>
        <p:nvSpPr>
          <p:cNvPr id="80" name="unit 76"/>
          <p:cNvSpPr/>
          <p:nvPr/>
        </p:nvSpPr>
        <p:spPr>
          <a:xfrm>
            <a:off x="9555480" y="4306824"/>
            <a:ext cx="365760" cy="365760"/>
          </a:xfrm>
          <a:prstGeom prst="roundRect">
            <a:avLst>
              <a:gd name="adj" fmla="val 12500"/>
            </a:avLst>
          </a:prstGeom>
          <a:solidFill>
            <a:schemeClr val="accent1"/>
          </a:solidFill>
          <a:ln/>
        </p:spPr>
      </p:sp>
      <p:sp>
        <p:nvSpPr>
          <p:cNvPr id="81" name="unit 77"/>
          <p:cNvSpPr/>
          <p:nvPr/>
        </p:nvSpPr>
        <p:spPr>
          <a:xfrm>
            <a:off x="9994392" y="4306824"/>
            <a:ext cx="365760" cy="365760"/>
          </a:xfrm>
          <a:prstGeom prst="roundRect">
            <a:avLst>
              <a:gd name="adj" fmla="val 12500"/>
            </a:avLst>
          </a:prstGeom>
          <a:solidFill>
            <a:schemeClr val="accent1"/>
          </a:solidFill>
          <a:ln/>
        </p:spPr>
      </p:sp>
      <p:sp>
        <p:nvSpPr>
          <p:cNvPr id="82" name="unit 78"/>
          <p:cNvSpPr/>
          <p:nvPr/>
        </p:nvSpPr>
        <p:spPr>
          <a:xfrm>
            <a:off x="10433304" y="4306824"/>
            <a:ext cx="365760" cy="365760"/>
          </a:xfrm>
          <a:prstGeom prst="roundRect">
            <a:avLst>
              <a:gd name="adj" fmla="val 12500"/>
            </a:avLst>
          </a:prstGeom>
          <a:solidFill>
            <a:schemeClr val="accent1"/>
          </a:solidFill>
          <a:ln/>
        </p:spPr>
      </p:sp>
      <p:sp>
        <p:nvSpPr>
          <p:cNvPr id="83" name="unit 79"/>
          <p:cNvSpPr/>
          <p:nvPr/>
        </p:nvSpPr>
        <p:spPr>
          <a:xfrm>
            <a:off x="10872216" y="4306824"/>
            <a:ext cx="365760" cy="365760"/>
          </a:xfrm>
          <a:prstGeom prst="roundRect">
            <a:avLst>
              <a:gd name="adj" fmla="val 12500"/>
            </a:avLst>
          </a:prstGeom>
          <a:solidFill>
            <a:schemeClr val="accent1"/>
          </a:solidFill>
          <a:ln/>
        </p:spPr>
      </p:sp>
      <p:sp>
        <p:nvSpPr>
          <p:cNvPr id="84" name="unit 80"/>
          <p:cNvSpPr/>
          <p:nvPr/>
        </p:nvSpPr>
        <p:spPr>
          <a:xfrm>
            <a:off x="11311128" y="4306824"/>
            <a:ext cx="365760" cy="365760"/>
          </a:xfrm>
          <a:prstGeom prst="roundRect">
            <a:avLst>
              <a:gd name="adj" fmla="val 12500"/>
            </a:avLst>
          </a:prstGeom>
          <a:solidFill>
            <a:schemeClr val="accent1"/>
          </a:solidFill>
          <a:ln/>
        </p:spPr>
      </p:sp>
      <p:sp>
        <p:nvSpPr>
          <p:cNvPr id="85" name="unit 81"/>
          <p:cNvSpPr/>
          <p:nvPr/>
        </p:nvSpPr>
        <p:spPr>
          <a:xfrm>
            <a:off x="7360920" y="4745736"/>
            <a:ext cx="365760" cy="365760"/>
          </a:xfrm>
          <a:prstGeom prst="roundRect">
            <a:avLst>
              <a:gd name="adj" fmla="val 12500"/>
            </a:avLst>
          </a:prstGeom>
          <a:solidFill>
            <a:schemeClr val="accent1"/>
          </a:solidFill>
          <a:ln/>
        </p:spPr>
      </p:sp>
      <p:sp>
        <p:nvSpPr>
          <p:cNvPr id="86" name="unit 82"/>
          <p:cNvSpPr/>
          <p:nvPr/>
        </p:nvSpPr>
        <p:spPr>
          <a:xfrm>
            <a:off x="7799832" y="4745736"/>
            <a:ext cx="365760" cy="365760"/>
          </a:xfrm>
          <a:prstGeom prst="roundRect">
            <a:avLst>
              <a:gd name="adj" fmla="val 12500"/>
            </a:avLst>
          </a:prstGeom>
          <a:solidFill>
            <a:schemeClr val="accent1"/>
          </a:solidFill>
          <a:ln/>
        </p:spPr>
      </p:sp>
      <p:sp>
        <p:nvSpPr>
          <p:cNvPr id="87" name="unit 83"/>
          <p:cNvSpPr/>
          <p:nvPr/>
        </p:nvSpPr>
        <p:spPr>
          <a:xfrm>
            <a:off x="8238744" y="4745736"/>
            <a:ext cx="365760" cy="365760"/>
          </a:xfrm>
          <a:prstGeom prst="roundRect">
            <a:avLst>
              <a:gd name="adj" fmla="val 12500"/>
            </a:avLst>
          </a:prstGeom>
          <a:solidFill>
            <a:schemeClr val="accent1"/>
          </a:solidFill>
          <a:ln/>
        </p:spPr>
      </p:sp>
      <p:sp>
        <p:nvSpPr>
          <p:cNvPr id="88" name="unit 84"/>
          <p:cNvSpPr/>
          <p:nvPr/>
        </p:nvSpPr>
        <p:spPr>
          <a:xfrm>
            <a:off x="8677656" y="4745736"/>
            <a:ext cx="365760" cy="365760"/>
          </a:xfrm>
          <a:prstGeom prst="roundRect">
            <a:avLst>
              <a:gd name="adj" fmla="val 12500"/>
            </a:avLst>
          </a:prstGeom>
          <a:solidFill>
            <a:schemeClr val="accent1"/>
          </a:solidFill>
          <a:ln/>
        </p:spPr>
      </p:sp>
      <p:sp>
        <p:nvSpPr>
          <p:cNvPr id="89" name="unit 85"/>
          <p:cNvSpPr/>
          <p:nvPr/>
        </p:nvSpPr>
        <p:spPr>
          <a:xfrm>
            <a:off x="9116568" y="4745736"/>
            <a:ext cx="365760" cy="365760"/>
          </a:xfrm>
          <a:prstGeom prst="roundRect">
            <a:avLst>
              <a:gd name="adj" fmla="val 12500"/>
            </a:avLst>
          </a:prstGeom>
          <a:solidFill>
            <a:schemeClr val="accent1"/>
          </a:solidFill>
          <a:ln/>
        </p:spPr>
      </p:sp>
      <p:sp>
        <p:nvSpPr>
          <p:cNvPr id="90" name="unit 86"/>
          <p:cNvSpPr/>
          <p:nvPr/>
        </p:nvSpPr>
        <p:spPr>
          <a:xfrm>
            <a:off x="9555480" y="4745736"/>
            <a:ext cx="365760" cy="365760"/>
          </a:xfrm>
          <a:prstGeom prst="roundRect">
            <a:avLst>
              <a:gd name="adj" fmla="val 12500"/>
            </a:avLst>
          </a:prstGeom>
          <a:solidFill>
            <a:schemeClr val="accent1"/>
          </a:solidFill>
          <a:ln/>
        </p:spPr>
      </p:sp>
      <p:sp>
        <p:nvSpPr>
          <p:cNvPr id="91" name="unit 87"/>
          <p:cNvSpPr/>
          <p:nvPr/>
        </p:nvSpPr>
        <p:spPr>
          <a:xfrm>
            <a:off x="9994392" y="4745736"/>
            <a:ext cx="365760" cy="365760"/>
          </a:xfrm>
          <a:prstGeom prst="roundRect">
            <a:avLst>
              <a:gd name="adj" fmla="val 12500"/>
            </a:avLst>
          </a:prstGeom>
          <a:solidFill>
            <a:schemeClr val="accent1"/>
          </a:solidFill>
          <a:ln/>
        </p:spPr>
      </p:sp>
      <p:sp>
        <p:nvSpPr>
          <p:cNvPr id="92" name="unit 88"/>
          <p:cNvSpPr/>
          <p:nvPr/>
        </p:nvSpPr>
        <p:spPr>
          <a:xfrm>
            <a:off x="10433304" y="4745736"/>
            <a:ext cx="365760" cy="365760"/>
          </a:xfrm>
          <a:prstGeom prst="roundRect">
            <a:avLst>
              <a:gd name="adj" fmla="val 12500"/>
            </a:avLst>
          </a:prstGeom>
          <a:solidFill>
            <a:schemeClr val="accent1"/>
          </a:solidFill>
          <a:ln/>
        </p:spPr>
      </p:sp>
      <p:sp>
        <p:nvSpPr>
          <p:cNvPr id="93" name="unit 89"/>
          <p:cNvSpPr/>
          <p:nvPr/>
        </p:nvSpPr>
        <p:spPr>
          <a:xfrm>
            <a:off x="10872216" y="4745736"/>
            <a:ext cx="365760" cy="365760"/>
          </a:xfrm>
          <a:prstGeom prst="roundRect">
            <a:avLst>
              <a:gd name="adj" fmla="val 12500"/>
            </a:avLst>
          </a:prstGeom>
          <a:solidFill>
            <a:schemeClr val="accent1"/>
          </a:solidFill>
          <a:ln/>
        </p:spPr>
      </p:sp>
      <p:sp>
        <p:nvSpPr>
          <p:cNvPr id="94" name="unit 90"/>
          <p:cNvSpPr/>
          <p:nvPr/>
        </p:nvSpPr>
        <p:spPr>
          <a:xfrm>
            <a:off x="11311128" y="4745736"/>
            <a:ext cx="365760" cy="365760"/>
          </a:xfrm>
          <a:prstGeom prst="roundRect">
            <a:avLst>
              <a:gd name="adj" fmla="val 12500"/>
            </a:avLst>
          </a:prstGeom>
          <a:solidFill>
            <a:schemeClr val="accent1"/>
          </a:solidFill>
          <a:ln/>
        </p:spPr>
      </p:sp>
      <p:sp>
        <p:nvSpPr>
          <p:cNvPr id="95" name="unit 91"/>
          <p:cNvSpPr/>
          <p:nvPr/>
        </p:nvSpPr>
        <p:spPr>
          <a:xfrm>
            <a:off x="7360920" y="5184648"/>
            <a:ext cx="365760" cy="365760"/>
          </a:xfrm>
          <a:prstGeom prst="roundRect">
            <a:avLst>
              <a:gd name="adj" fmla="val 12500"/>
            </a:avLst>
          </a:prstGeom>
          <a:solidFill>
            <a:schemeClr val="accent1"/>
          </a:solidFill>
          <a:ln/>
        </p:spPr>
      </p:sp>
      <p:sp>
        <p:nvSpPr>
          <p:cNvPr id="96" name="unit 92"/>
          <p:cNvSpPr/>
          <p:nvPr/>
        </p:nvSpPr>
        <p:spPr>
          <a:xfrm>
            <a:off x="7799832" y="5184648"/>
            <a:ext cx="365760" cy="365760"/>
          </a:xfrm>
          <a:prstGeom prst="roundRect">
            <a:avLst>
              <a:gd name="adj" fmla="val 12500"/>
            </a:avLst>
          </a:prstGeom>
          <a:solidFill>
            <a:schemeClr val="accent1"/>
          </a:solidFill>
          <a:ln/>
        </p:spPr>
      </p:sp>
      <p:sp>
        <p:nvSpPr>
          <p:cNvPr id="97" name="unit 93"/>
          <p:cNvSpPr/>
          <p:nvPr/>
        </p:nvSpPr>
        <p:spPr>
          <a:xfrm>
            <a:off x="8238744" y="5184648"/>
            <a:ext cx="365760" cy="365760"/>
          </a:xfrm>
          <a:prstGeom prst="roundRect">
            <a:avLst>
              <a:gd name="adj" fmla="val 12500"/>
            </a:avLst>
          </a:prstGeom>
          <a:solidFill>
            <a:schemeClr val="accent1"/>
          </a:solidFill>
          <a:ln/>
        </p:spPr>
      </p:sp>
      <p:sp>
        <p:nvSpPr>
          <p:cNvPr id="98" name="unit 94"/>
          <p:cNvSpPr/>
          <p:nvPr/>
        </p:nvSpPr>
        <p:spPr>
          <a:xfrm>
            <a:off x="8677656" y="5184648"/>
            <a:ext cx="365760" cy="365760"/>
          </a:xfrm>
          <a:prstGeom prst="roundRect">
            <a:avLst>
              <a:gd name="adj" fmla="val 12500"/>
            </a:avLst>
          </a:prstGeom>
          <a:solidFill>
            <a:schemeClr val="accent1"/>
          </a:solidFill>
          <a:ln/>
        </p:spPr>
      </p:sp>
      <p:sp>
        <p:nvSpPr>
          <p:cNvPr id="99" name="unit 95"/>
          <p:cNvSpPr/>
          <p:nvPr/>
        </p:nvSpPr>
        <p:spPr>
          <a:xfrm>
            <a:off x="9116568" y="5184648"/>
            <a:ext cx="365760" cy="365760"/>
          </a:xfrm>
          <a:prstGeom prst="roundRect">
            <a:avLst>
              <a:gd name="adj" fmla="val 12500"/>
            </a:avLst>
          </a:prstGeom>
          <a:solidFill>
            <a:schemeClr val="accent1"/>
          </a:solidFill>
          <a:ln/>
        </p:spPr>
      </p:sp>
      <p:sp>
        <p:nvSpPr>
          <p:cNvPr id="100" name="unit 96"/>
          <p:cNvSpPr/>
          <p:nvPr/>
        </p:nvSpPr>
        <p:spPr>
          <a:xfrm>
            <a:off x="9555480" y="5184648"/>
            <a:ext cx="365760" cy="365760"/>
          </a:xfrm>
          <a:prstGeom prst="roundRect">
            <a:avLst>
              <a:gd name="adj" fmla="val 12500"/>
            </a:avLst>
          </a:prstGeom>
          <a:solidFill>
            <a:schemeClr val="accent1"/>
          </a:solidFill>
          <a:ln/>
        </p:spPr>
      </p:sp>
      <p:sp>
        <p:nvSpPr>
          <p:cNvPr id="101" name="unit 97"/>
          <p:cNvSpPr/>
          <p:nvPr/>
        </p:nvSpPr>
        <p:spPr>
          <a:xfrm>
            <a:off x="9994392" y="5184648"/>
            <a:ext cx="365760" cy="365760"/>
          </a:xfrm>
          <a:prstGeom prst="roundRect">
            <a:avLst>
              <a:gd name="adj" fmla="val 12500"/>
            </a:avLst>
          </a:prstGeom>
          <a:solidFill>
            <a:schemeClr val="accent1"/>
          </a:solidFill>
          <a:ln/>
        </p:spPr>
      </p:sp>
      <p:sp>
        <p:nvSpPr>
          <p:cNvPr id="102" name="unit 98"/>
          <p:cNvSpPr/>
          <p:nvPr/>
        </p:nvSpPr>
        <p:spPr>
          <a:xfrm>
            <a:off x="10433304" y="5184648"/>
            <a:ext cx="365760" cy="365760"/>
          </a:xfrm>
          <a:prstGeom prst="roundRect">
            <a:avLst>
              <a:gd name="adj" fmla="val 12500"/>
            </a:avLst>
          </a:prstGeom>
          <a:solidFill>
            <a:schemeClr val="accent1"/>
          </a:solidFill>
          <a:ln/>
        </p:spPr>
      </p:sp>
      <p:sp>
        <p:nvSpPr>
          <p:cNvPr id="103" name="unit 99"/>
          <p:cNvSpPr/>
          <p:nvPr/>
        </p:nvSpPr>
        <p:spPr>
          <a:xfrm>
            <a:off x="10872216" y="5184648"/>
            <a:ext cx="365760" cy="365760"/>
          </a:xfrm>
          <a:prstGeom prst="roundRect">
            <a:avLst>
              <a:gd name="adj" fmla="val 12500"/>
            </a:avLst>
          </a:prstGeom>
          <a:solidFill>
            <a:schemeClr val="accent1"/>
          </a:solidFill>
          <a:ln/>
        </p:spPr>
      </p:sp>
      <p:sp>
        <p:nvSpPr>
          <p:cNvPr id="104" name="unit 100"/>
          <p:cNvSpPr/>
          <p:nvPr/>
        </p:nvSpPr>
        <p:spPr>
          <a:xfrm>
            <a:off x="11311128" y="5184648"/>
            <a:ext cx="365760" cy="365760"/>
          </a:xfrm>
          <a:prstGeom prst="roundRect">
            <a:avLst>
              <a:gd name="adj" fmla="val 12500"/>
            </a:avLst>
          </a:prstGeom>
          <a:solidFill>
            <a:schemeClr val="accent1"/>
          </a:solidFill>
          <a:ln/>
        </p:spPr>
      </p:sp>
      <p:sp>
        <p:nvSpPr>
          <p:cNvPr id="105" name="Text 103"/>
          <p:cNvSpPr txBox="1"/>
          <p:nvPr/>
        </p:nvSpPr>
        <p:spPr>
          <a:xfrm>
            <a:off x="7360920" y="5715000"/>
            <a:ext cx="4315968" cy="36576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100 / 100 sold</a:t>
            </a:r>
            <a:pPr indent="0" marL="0">
              <a:buNone/>
            </a:pPr>
            <a:r>
              <a:rPr lang="en-US" sz="1400" dirty="0">
                <a:solidFill>
                  <a:schemeClr val="bg1">
                    <a:alpha val="70000"/>
                  </a:schemeClr>
                </a:solidFill>
                <a:latin typeface="Calibri" pitchFamily="34" charset="0"/>
                <a:ea typeface="Calibri" pitchFamily="34" charset="-122"/>
                <a:cs typeface="Calibri" pitchFamily="34" charset="-120"/>
              </a:rPr>
              <a:t>   0 oversold  ·  0 double charges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778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10,000 buyers, 100 units, one second</a:t>
            </a:r>
            <a:endParaRPr lang="en-US" sz="3000" dirty="0"/>
          </a:p>
        </p:txBody>
      </p:sp>
      <p:sp>
        <p:nvSpPr>
          <p:cNvPr id="3" name="pitch timing"/>
          <p:cNvSpPr txBox="1"/>
          <p:nvPr/>
        </p:nvSpPr>
        <p:spPr>
          <a:xfrm>
            <a:off x="9445752" y="530352"/>
            <a:ext cx="2194560" cy="384048"/>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0:00 – 0:30  ·  Problem</a:t>
            </a:r>
            <a:endParaRPr lang="en-US" sz="1200" dirty="0"/>
          </a:p>
        </p:txBody>
      </p:sp>
      <p:sp>
        <p:nvSpPr>
          <p:cNvPr id="4" name="Text 2"/>
          <p:cNvSpPr txBox="1"/>
          <p:nvPr/>
        </p:nvSpPr>
        <p:spPr>
          <a:xfrm>
            <a:off x="548640" y="1600200"/>
            <a:ext cx="2606040" cy="91440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10,000</a:t>
            </a:r>
            <a:endParaRPr lang="en-US" sz="4800" dirty="0"/>
          </a:p>
        </p:txBody>
      </p:sp>
      <p:sp>
        <p:nvSpPr>
          <p:cNvPr id="5" name="Text 3"/>
          <p:cNvSpPr txBox="1"/>
          <p:nvPr/>
        </p:nvSpPr>
        <p:spPr>
          <a:xfrm>
            <a:off x="548640" y="2560320"/>
            <a:ext cx="2514600" cy="548640"/>
          </a:xfrm>
          <a:prstGeom prst="rect">
            <a:avLst/>
          </a:prstGeom>
          <a:noFill/>
          <a:ln/>
        </p:spPr>
        <p:txBody>
          <a:bodyPr wrap="square" lIns="0" tIns="0" rIns="0" bIns="0" rtlCol="0" anchor="t"/>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customers press Buy now</a:t>
            </a:r>
            <a:endParaRPr lang="en-US" sz="1400" dirty="0"/>
          </a:p>
        </p:txBody>
      </p:sp>
      <p:sp>
        <p:nvSpPr>
          <p:cNvPr id="6" name="Text 4"/>
          <p:cNvSpPr txBox="1"/>
          <p:nvPr/>
        </p:nvSpPr>
        <p:spPr>
          <a:xfrm>
            <a:off x="3291840" y="1600200"/>
            <a:ext cx="1417320" cy="914400"/>
          </a:xfrm>
          <a:prstGeom prst="rect">
            <a:avLst/>
          </a:prstGeom>
          <a:noFill/>
          <a:ln/>
        </p:spPr>
        <p:txBody>
          <a:bodyPr wrap="square" lIns="0" tIns="0" rIns="0" bIns="0" rtlCol="0" anchor="b"/>
          <a:lstStyle/>
          <a:p>
            <a:pPr indent="0" marL="0">
              <a:buNone/>
            </a:pPr>
            <a:r>
              <a:rPr lang="en-US" sz="4800" b="1" dirty="0">
                <a:solidFill>
                  <a:schemeClr val="accent2"/>
                </a:solidFill>
                <a:latin typeface="Arial" pitchFamily="34" charset="0"/>
                <a:ea typeface="Arial" pitchFamily="34" charset="-122"/>
                <a:cs typeface="Arial" pitchFamily="34" charset="-120"/>
              </a:rPr>
              <a:t>100</a:t>
            </a:r>
            <a:endParaRPr lang="en-US" sz="4800" dirty="0"/>
          </a:p>
        </p:txBody>
      </p:sp>
      <p:sp>
        <p:nvSpPr>
          <p:cNvPr id="7" name="Text 5"/>
          <p:cNvSpPr txBox="1"/>
          <p:nvPr/>
        </p:nvSpPr>
        <p:spPr>
          <a:xfrm>
            <a:off x="3291840" y="2560320"/>
            <a:ext cx="1325880" cy="548640"/>
          </a:xfrm>
          <a:prstGeom prst="rect">
            <a:avLst/>
          </a:prstGeom>
          <a:noFill/>
          <a:ln/>
        </p:spPr>
        <p:txBody>
          <a:bodyPr wrap="square" lIns="0" tIns="0" rIns="0" bIns="0" rtlCol="0" anchor="t"/>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units in stock</a:t>
            </a:r>
            <a:endParaRPr lang="en-US" sz="1400" dirty="0"/>
          </a:p>
        </p:txBody>
      </p:sp>
      <p:sp>
        <p:nvSpPr>
          <p:cNvPr id="8" name="Text 6"/>
          <p:cNvSpPr txBox="1"/>
          <p:nvPr/>
        </p:nvSpPr>
        <p:spPr>
          <a:xfrm>
            <a:off x="4846320" y="1600200"/>
            <a:ext cx="1325880" cy="91440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1 s</a:t>
            </a:r>
            <a:endParaRPr lang="en-US" sz="4800" dirty="0"/>
          </a:p>
        </p:txBody>
      </p:sp>
      <p:sp>
        <p:nvSpPr>
          <p:cNvPr id="9" name="Text 7"/>
          <p:cNvSpPr txBox="1"/>
          <p:nvPr/>
        </p:nvSpPr>
        <p:spPr>
          <a:xfrm>
            <a:off x="4846320" y="2560320"/>
            <a:ext cx="1234440" cy="548640"/>
          </a:xfrm>
          <a:prstGeom prst="rect">
            <a:avLst/>
          </a:prstGeom>
          <a:noFill/>
          <a:ln/>
        </p:spPr>
        <p:txBody>
          <a:bodyPr wrap="square" lIns="0" tIns="0" rIns="0" bIns="0" rtlCol="0" anchor="t"/>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burst window</a:t>
            </a:r>
            <a:endParaRPr lang="en-US" sz="1400" dirty="0"/>
          </a:p>
        </p:txBody>
      </p:sp>
      <p:sp>
        <p:nvSpPr>
          <p:cNvPr id="10" name="business question"/>
          <p:cNvSpPr/>
          <p:nvPr/>
        </p:nvSpPr>
        <p:spPr>
          <a:xfrm>
            <a:off x="548640" y="3520440"/>
            <a:ext cx="5440680" cy="2377440"/>
          </a:xfrm>
          <a:prstGeom prst="roundRect">
            <a:avLst>
              <a:gd name="adj" fmla="val 3846"/>
            </a:avLst>
          </a:prstGeom>
          <a:solidFill>
            <a:schemeClr val="bg2"/>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11" name="Text 9"/>
          <p:cNvSpPr txBox="1"/>
          <p:nvPr/>
        </p:nvSpPr>
        <p:spPr>
          <a:xfrm>
            <a:off x="868680" y="3794760"/>
            <a:ext cx="484632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The business question</a:t>
            </a:r>
            <a:endParaRPr lang="en-US" sz="1400" dirty="0"/>
          </a:p>
        </p:txBody>
      </p:sp>
      <p:sp>
        <p:nvSpPr>
          <p:cNvPr id="12" name="Text 10"/>
          <p:cNvSpPr txBox="1"/>
          <p:nvPr/>
        </p:nvSpPr>
        <p:spPr>
          <a:xfrm>
            <a:off x="868680" y="4206240"/>
            <a:ext cx="4846320" cy="1463040"/>
          </a:xfrm>
          <a:prstGeom prst="rect">
            <a:avLst/>
          </a:prstGeom>
          <a:noFill/>
          <a:ln/>
        </p:spPr>
        <p:txBody>
          <a:bodyPr wrap="square" lIns="0" tIns="0" rIns="0" bIns="0" rtlCol="0" anchor="t"/>
          <a:lstStyle/>
          <a:p>
            <a:pPr indent="0" marL="0">
              <a:buNone/>
            </a:pPr>
            <a:r>
              <a:rPr lang="en-US" sz="1800" i="1" dirty="0">
                <a:solidFill>
                  <a:schemeClr val="tx1"/>
                </a:solidFill>
                <a:latin typeface="Calibri" pitchFamily="34" charset="0"/>
                <a:ea typeface="Calibri" pitchFamily="34" charset="-122"/>
                <a:cs typeface="Calibri" pitchFamily="34" charset="-120"/>
              </a:rPr>
              <a:t>How can we handle thousands of simultaneous purchase requests for limited inventory without overselling, while keeping payment and order processing reliable?</a:t>
            </a:r>
            <a:endParaRPr lang="en-US" sz="1800" dirty="0"/>
          </a:p>
        </p:txBody>
      </p:sp>
      <p:sp>
        <p:nvSpPr>
          <p:cNvPr id="13" name="Text 11"/>
          <p:cNvSpPr txBox="1"/>
          <p:nvPr/>
        </p:nvSpPr>
        <p:spPr>
          <a:xfrm>
            <a:off x="6629400" y="1600200"/>
            <a:ext cx="4937760" cy="36576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What goes wrong in a naive design</a:t>
            </a:r>
            <a:endParaRPr lang="en-US" sz="2000" dirty="0"/>
          </a:p>
        </p:txBody>
      </p:sp>
      <p:sp>
        <p:nvSpPr>
          <p:cNvPr id="14" name="icon tile package-x"/>
          <p:cNvSpPr/>
          <p:nvPr/>
        </p:nvSpPr>
        <p:spPr>
          <a:xfrm>
            <a:off x="6629400" y="2240280"/>
            <a:ext cx="566928" cy="566928"/>
          </a:xfrm>
          <a:prstGeom prst="roundRect">
            <a:avLst>
              <a:gd name="adj" fmla="val 19355"/>
            </a:avLst>
          </a:prstGeom>
          <a:solidFill>
            <a:schemeClr val="bg2"/>
          </a:solidFill>
          <a:ln/>
        </p:spPr>
      </p:sp>
      <p:pic>
        <p:nvPicPr>
          <p:cNvPr id="15" name="icon package-x" descr="package x">    </p:cNvPr>
          <p:cNvPicPr>
            <a:picLocks noChangeAspect="1"/>
          </p:cNvPicPr>
          <p:nvPr/>
        </p:nvPicPr>
        <p:blipFill>
          <a:blip r:embed="rId1"/>
          <a:stretch>
            <a:fillRect/>
          </a:stretch>
        </p:blipFill>
        <p:spPr>
          <a:xfrm>
            <a:off x="6754124" y="2365004"/>
            <a:ext cx="317480" cy="317480"/>
          </a:xfrm>
          <a:prstGeom prst="rect">
            <a:avLst/>
          </a:prstGeom>
        </p:spPr>
      </p:pic>
      <p:sp>
        <p:nvSpPr>
          <p:cNvPr id="16" name="Text 13"/>
          <p:cNvSpPr txBox="1"/>
          <p:nvPr/>
        </p:nvSpPr>
        <p:spPr>
          <a:xfrm>
            <a:off x="7424928" y="2221992"/>
            <a:ext cx="420624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Oversell</a:t>
            </a:r>
            <a:endParaRPr lang="en-US" sz="1600" dirty="0"/>
          </a:p>
        </p:txBody>
      </p:sp>
      <p:sp>
        <p:nvSpPr>
          <p:cNvPr id="17" name="Text 14"/>
          <p:cNvSpPr txBox="1"/>
          <p:nvPr/>
        </p:nvSpPr>
        <p:spPr>
          <a:xfrm>
            <a:off x="7424928" y="2569464"/>
            <a:ext cx="4206240" cy="685800"/>
          </a:xfrm>
          <a:prstGeom prst="rect">
            <a:avLst/>
          </a:prstGeom>
          <a:noFill/>
          <a:ln/>
        </p:spPr>
        <p:txBody>
          <a:bodyPr wrap="square" lIns="0" tIns="0" rIns="0" bIns="0" rtlCol="0" anchor="t"/>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Two buyers both get the last unit. We cancel a paid order or ship stock we do not have.</a:t>
            </a:r>
            <a:endParaRPr lang="en-US" sz="1400" dirty="0"/>
          </a:p>
        </p:txBody>
      </p:sp>
      <p:sp>
        <p:nvSpPr>
          <p:cNvPr id="18" name="icon tile credit-card"/>
          <p:cNvSpPr/>
          <p:nvPr/>
        </p:nvSpPr>
        <p:spPr>
          <a:xfrm>
            <a:off x="6629400" y="3474720"/>
            <a:ext cx="566928" cy="566928"/>
          </a:xfrm>
          <a:prstGeom prst="roundRect">
            <a:avLst>
              <a:gd name="adj" fmla="val 19355"/>
            </a:avLst>
          </a:prstGeom>
          <a:solidFill>
            <a:schemeClr val="bg2"/>
          </a:solidFill>
          <a:ln/>
        </p:spPr>
      </p:sp>
      <p:pic>
        <p:nvPicPr>
          <p:cNvPr id="19" name="icon credit-card" descr="credit card">    </p:cNvPr>
          <p:cNvPicPr>
            <a:picLocks noChangeAspect="1"/>
          </p:cNvPicPr>
          <p:nvPr/>
        </p:nvPicPr>
        <p:blipFill>
          <a:blip r:embed="rId2"/>
          <a:stretch>
            <a:fillRect/>
          </a:stretch>
        </p:blipFill>
        <p:spPr>
          <a:xfrm>
            <a:off x="6754124" y="3599444"/>
            <a:ext cx="317480" cy="317480"/>
          </a:xfrm>
          <a:prstGeom prst="rect">
            <a:avLst/>
          </a:prstGeom>
        </p:spPr>
      </p:pic>
      <p:sp>
        <p:nvSpPr>
          <p:cNvPr id="20" name="Text 16"/>
          <p:cNvSpPr txBox="1"/>
          <p:nvPr/>
        </p:nvSpPr>
        <p:spPr>
          <a:xfrm>
            <a:off x="7424928" y="3456432"/>
            <a:ext cx="420624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Double charge</a:t>
            </a:r>
            <a:endParaRPr lang="en-US" sz="1600" dirty="0"/>
          </a:p>
        </p:txBody>
      </p:sp>
      <p:sp>
        <p:nvSpPr>
          <p:cNvPr id="21" name="Text 17"/>
          <p:cNvSpPr txBox="1"/>
          <p:nvPr/>
        </p:nvSpPr>
        <p:spPr>
          <a:xfrm>
            <a:off x="7424928" y="3803904"/>
            <a:ext cx="4206240" cy="685800"/>
          </a:xfrm>
          <a:prstGeom prst="rect">
            <a:avLst/>
          </a:prstGeom>
          <a:noFill/>
          <a:ln/>
        </p:spPr>
        <p:txBody>
          <a:bodyPr wrap="square" lIns="0" tIns="0" rIns="0" bIns="0" rtlCol="0" anchor="t"/>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A double click or a gateway timeout charges the same card twice.</a:t>
            </a:r>
            <a:endParaRPr lang="en-US" sz="1400" dirty="0"/>
          </a:p>
        </p:txBody>
      </p:sp>
      <p:sp>
        <p:nvSpPr>
          <p:cNvPr id="22" name="icon tile unplug"/>
          <p:cNvSpPr/>
          <p:nvPr/>
        </p:nvSpPr>
        <p:spPr>
          <a:xfrm>
            <a:off x="6629400" y="4709160"/>
            <a:ext cx="566928" cy="566928"/>
          </a:xfrm>
          <a:prstGeom prst="roundRect">
            <a:avLst>
              <a:gd name="adj" fmla="val 19355"/>
            </a:avLst>
          </a:prstGeom>
          <a:solidFill>
            <a:schemeClr val="bg2"/>
          </a:solidFill>
          <a:ln/>
        </p:spPr>
      </p:sp>
      <p:pic>
        <p:nvPicPr>
          <p:cNvPr id="23" name="icon unplug" descr="unplug">    </p:cNvPr>
          <p:cNvPicPr>
            <a:picLocks noChangeAspect="1"/>
          </p:cNvPicPr>
          <p:nvPr/>
        </p:nvPicPr>
        <p:blipFill>
          <a:blip r:embed="rId3"/>
          <a:stretch>
            <a:fillRect/>
          </a:stretch>
        </p:blipFill>
        <p:spPr>
          <a:xfrm>
            <a:off x="6754124" y="4833884"/>
            <a:ext cx="317480" cy="317480"/>
          </a:xfrm>
          <a:prstGeom prst="rect">
            <a:avLst/>
          </a:prstGeom>
        </p:spPr>
      </p:pic>
      <p:sp>
        <p:nvSpPr>
          <p:cNvPr id="24" name="Text 19"/>
          <p:cNvSpPr txBox="1"/>
          <p:nvPr/>
        </p:nvSpPr>
        <p:spPr>
          <a:xfrm>
            <a:off x="7424928" y="4690872"/>
            <a:ext cx="420624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Lost order</a:t>
            </a:r>
            <a:endParaRPr lang="en-US" sz="1600" dirty="0"/>
          </a:p>
        </p:txBody>
      </p:sp>
      <p:sp>
        <p:nvSpPr>
          <p:cNvPr id="25" name="Text 20"/>
          <p:cNvSpPr txBox="1"/>
          <p:nvPr/>
        </p:nvSpPr>
        <p:spPr>
          <a:xfrm>
            <a:off x="7424928" y="5038344"/>
            <a:ext cx="4206240" cy="685800"/>
          </a:xfrm>
          <a:prstGeom prst="rect">
            <a:avLst/>
          </a:prstGeom>
          <a:noFill/>
          <a:ln/>
        </p:spPr>
        <p:txBody>
          <a:bodyPr wrap="square" lIns="0" tIns="0" rIns="0" bIns="0" rtlCol="0" anchor="t"/>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Payment is taken while the Order Service is down, and no order is ever created.</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597"/>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778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Five guarantees we never break</a:t>
            </a:r>
            <a:endParaRPr lang="en-US" sz="3000" dirty="0"/>
          </a:p>
        </p:txBody>
      </p:sp>
      <p:sp>
        <p:nvSpPr>
          <p:cNvPr id="3" name="pitch timing"/>
          <p:cNvSpPr txBox="1"/>
          <p:nvPr/>
        </p:nvSpPr>
        <p:spPr>
          <a:xfrm>
            <a:off x="9445752" y="530352"/>
            <a:ext cx="2194560" cy="384048"/>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0:30 – 1:00  ·  Requirements</a:t>
            </a:r>
            <a:endParaRPr lang="en-US" sz="1200" dirty="0"/>
          </a:p>
        </p:txBody>
      </p:sp>
      <p:sp>
        <p:nvSpPr>
          <p:cNvPr id="4" name="icon tile shield-check"/>
          <p:cNvSpPr/>
          <p:nvPr/>
        </p:nvSpPr>
        <p:spPr>
          <a:xfrm>
            <a:off x="548640" y="1463040"/>
            <a:ext cx="566928" cy="566928"/>
          </a:xfrm>
          <a:prstGeom prst="roundRect">
            <a:avLst>
              <a:gd name="adj" fmla="val 19355"/>
            </a:avLst>
          </a:prstGeom>
          <a:solidFill>
            <a:schemeClr val="accent1"/>
          </a:solidFill>
          <a:ln/>
        </p:spPr>
      </p:sp>
      <p:pic>
        <p:nvPicPr>
          <p:cNvPr id="5" name="icon shield-check" descr="shield check">    </p:cNvPr>
          <p:cNvPicPr>
            <a:picLocks noChangeAspect="1"/>
          </p:cNvPicPr>
          <p:nvPr/>
        </p:nvPicPr>
        <p:blipFill>
          <a:blip r:embed="rId1"/>
          <a:stretch>
            <a:fillRect/>
          </a:stretch>
        </p:blipFill>
        <p:spPr>
          <a:xfrm>
            <a:off x="673364" y="1587764"/>
            <a:ext cx="317480" cy="317480"/>
          </a:xfrm>
          <a:prstGeom prst="rect">
            <a:avLst/>
          </a:prstGeom>
        </p:spPr>
      </p:pic>
      <p:sp>
        <p:nvSpPr>
          <p:cNvPr id="6" name="Text 3"/>
          <p:cNvSpPr txBox="1"/>
          <p:nvPr/>
        </p:nvSpPr>
        <p:spPr>
          <a:xfrm>
            <a:off x="1344168" y="1453896"/>
            <a:ext cx="5120640" cy="32004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Never sell more than stock</a:t>
            </a:r>
            <a:endParaRPr lang="en-US" sz="1700" dirty="0"/>
          </a:p>
        </p:txBody>
      </p:sp>
      <p:sp>
        <p:nvSpPr>
          <p:cNvPr id="7" name="Text 4"/>
          <p:cNvSpPr txBox="1"/>
          <p:nvPr/>
        </p:nvSpPr>
        <p:spPr>
          <a:xfrm>
            <a:off x="1344168" y="1783080"/>
            <a:ext cx="5120640" cy="320040"/>
          </a:xfrm>
          <a:prstGeom prst="rect">
            <a:avLst/>
          </a:prstGeom>
          <a:noFill/>
          <a:ln/>
        </p:spPr>
        <p:txBody>
          <a:bodyPr wrap="square" lIns="0" tIns="0" rIns="0" bIns="0" rtlCol="0" anchor="t"/>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Units sold ≤ units in stock, at every instant</a:t>
            </a:r>
            <a:endParaRPr lang="en-US" sz="1400" dirty="0"/>
          </a:p>
        </p:txBody>
      </p:sp>
      <p:sp>
        <p:nvSpPr>
          <p:cNvPr id="8" name="icon tile scale"/>
          <p:cNvSpPr/>
          <p:nvPr/>
        </p:nvSpPr>
        <p:spPr>
          <a:xfrm>
            <a:off x="548640" y="2395728"/>
            <a:ext cx="566928" cy="566928"/>
          </a:xfrm>
          <a:prstGeom prst="roundRect">
            <a:avLst>
              <a:gd name="adj" fmla="val 19355"/>
            </a:avLst>
          </a:prstGeom>
          <a:solidFill>
            <a:schemeClr val="accent1"/>
          </a:solidFill>
          <a:ln/>
        </p:spPr>
      </p:sp>
      <p:pic>
        <p:nvPicPr>
          <p:cNvPr id="9" name="icon scale" descr="scale">    </p:cNvPr>
          <p:cNvPicPr>
            <a:picLocks noChangeAspect="1"/>
          </p:cNvPicPr>
          <p:nvPr/>
        </p:nvPicPr>
        <p:blipFill>
          <a:blip r:embed="rId2"/>
          <a:stretch>
            <a:fillRect/>
          </a:stretch>
        </p:blipFill>
        <p:spPr>
          <a:xfrm>
            <a:off x="673364" y="2520452"/>
            <a:ext cx="317480" cy="317480"/>
          </a:xfrm>
          <a:prstGeom prst="rect">
            <a:avLst/>
          </a:prstGeom>
        </p:spPr>
      </p:pic>
      <p:sp>
        <p:nvSpPr>
          <p:cNvPr id="10" name="Text 6"/>
          <p:cNvSpPr txBox="1"/>
          <p:nvPr/>
        </p:nvSpPr>
        <p:spPr>
          <a:xfrm>
            <a:off x="1344168" y="2386584"/>
            <a:ext cx="5120640" cy="32004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Stock always adds up</a:t>
            </a:r>
            <a:endParaRPr lang="en-US" sz="1700" dirty="0"/>
          </a:p>
        </p:txBody>
      </p:sp>
      <p:sp>
        <p:nvSpPr>
          <p:cNvPr id="11" name="Text 7"/>
          <p:cNvSpPr txBox="1"/>
          <p:nvPr/>
        </p:nvSpPr>
        <p:spPr>
          <a:xfrm>
            <a:off x="1344168" y="2715768"/>
            <a:ext cx="5120640" cy="320040"/>
          </a:xfrm>
          <a:prstGeom prst="rect">
            <a:avLst/>
          </a:prstGeom>
          <a:noFill/>
          <a:ln/>
        </p:spPr>
        <p:txBody>
          <a:bodyPr wrap="square" lIns="0" tIns="0" rIns="0" bIns="0" rtlCol="0" anchor="t"/>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available + reserved + sold = stock</a:t>
            </a:r>
            <a:endParaRPr lang="en-US" sz="1400" dirty="0"/>
          </a:p>
        </p:txBody>
      </p:sp>
      <p:sp>
        <p:nvSpPr>
          <p:cNvPr id="12" name="icon tile fingerprint"/>
          <p:cNvSpPr/>
          <p:nvPr/>
        </p:nvSpPr>
        <p:spPr>
          <a:xfrm>
            <a:off x="548640" y="3328416"/>
            <a:ext cx="566928" cy="566928"/>
          </a:xfrm>
          <a:prstGeom prst="roundRect">
            <a:avLst>
              <a:gd name="adj" fmla="val 19355"/>
            </a:avLst>
          </a:prstGeom>
          <a:solidFill>
            <a:schemeClr val="accent1"/>
          </a:solidFill>
          <a:ln/>
        </p:spPr>
      </p:sp>
      <p:pic>
        <p:nvPicPr>
          <p:cNvPr id="13" name="icon fingerprint" descr="fingerprint">    </p:cNvPr>
          <p:cNvPicPr>
            <a:picLocks noChangeAspect="1"/>
          </p:cNvPicPr>
          <p:nvPr/>
        </p:nvPicPr>
        <p:blipFill>
          <a:blip r:embed="rId3"/>
          <a:stretch>
            <a:fillRect/>
          </a:stretch>
        </p:blipFill>
        <p:spPr>
          <a:xfrm>
            <a:off x="673364" y="3453140"/>
            <a:ext cx="317480" cy="317480"/>
          </a:xfrm>
          <a:prstGeom prst="rect">
            <a:avLst/>
          </a:prstGeom>
        </p:spPr>
      </p:pic>
      <p:sp>
        <p:nvSpPr>
          <p:cNvPr id="14" name="Text 9"/>
          <p:cNvSpPr txBox="1"/>
          <p:nvPr/>
        </p:nvSpPr>
        <p:spPr>
          <a:xfrm>
            <a:off x="1344168" y="3319272"/>
            <a:ext cx="5120640" cy="32004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One reservation per request</a:t>
            </a:r>
            <a:endParaRPr lang="en-US" sz="1700" dirty="0"/>
          </a:p>
        </p:txBody>
      </p:sp>
      <p:sp>
        <p:nvSpPr>
          <p:cNvPr id="15" name="Text 10"/>
          <p:cNvSpPr txBox="1"/>
          <p:nvPr/>
        </p:nvSpPr>
        <p:spPr>
          <a:xfrm>
            <a:off x="1344168" y="3648456"/>
            <a:ext cx="5120640" cy="320040"/>
          </a:xfrm>
          <a:prstGeom prst="rect">
            <a:avLst/>
          </a:prstGeom>
          <a:noFill/>
          <a:ln/>
        </p:spPr>
        <p:txBody>
          <a:bodyPr wrap="square" lIns="0" tIns="0" rIns="0" bIns="0" rtlCol="0" anchor="t"/>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Per idempotency key, and one active hold per customer</a:t>
            </a:r>
            <a:endParaRPr lang="en-US" sz="1400" dirty="0"/>
          </a:p>
        </p:txBody>
      </p:sp>
      <p:sp>
        <p:nvSpPr>
          <p:cNvPr id="16" name="icon tile badge-indian-rupee"/>
          <p:cNvSpPr/>
          <p:nvPr/>
        </p:nvSpPr>
        <p:spPr>
          <a:xfrm>
            <a:off x="548640" y="4261104"/>
            <a:ext cx="566928" cy="566928"/>
          </a:xfrm>
          <a:prstGeom prst="roundRect">
            <a:avLst>
              <a:gd name="adj" fmla="val 19355"/>
            </a:avLst>
          </a:prstGeom>
          <a:solidFill>
            <a:schemeClr val="accent1"/>
          </a:solidFill>
          <a:ln/>
        </p:spPr>
      </p:sp>
      <p:pic>
        <p:nvPicPr>
          <p:cNvPr id="17" name="icon badge-indian-rupee" descr="badge indian rupee">    </p:cNvPr>
          <p:cNvPicPr>
            <a:picLocks noChangeAspect="1"/>
          </p:cNvPicPr>
          <p:nvPr/>
        </p:nvPicPr>
        <p:blipFill>
          <a:blip r:embed="rId4"/>
          <a:stretch>
            <a:fillRect/>
          </a:stretch>
        </p:blipFill>
        <p:spPr>
          <a:xfrm>
            <a:off x="673364" y="4385828"/>
            <a:ext cx="317480" cy="317480"/>
          </a:xfrm>
          <a:prstGeom prst="rect">
            <a:avLst/>
          </a:prstGeom>
        </p:spPr>
      </p:pic>
      <p:sp>
        <p:nvSpPr>
          <p:cNvPr id="18" name="Text 12"/>
          <p:cNvSpPr txBox="1"/>
          <p:nvPr/>
        </p:nvSpPr>
        <p:spPr>
          <a:xfrm>
            <a:off x="1344168" y="4251960"/>
            <a:ext cx="5120640" cy="32004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One charge per reservation</a:t>
            </a:r>
            <a:endParaRPr lang="en-US" sz="1700" dirty="0"/>
          </a:p>
        </p:txBody>
      </p:sp>
      <p:sp>
        <p:nvSpPr>
          <p:cNvPr id="19" name="Text 13"/>
          <p:cNvSpPr txBox="1"/>
          <p:nvPr/>
        </p:nvSpPr>
        <p:spPr>
          <a:xfrm>
            <a:off x="1344168" y="4581144"/>
            <a:ext cx="5120640" cy="320040"/>
          </a:xfrm>
          <a:prstGeom prst="rect">
            <a:avLst/>
          </a:prstGeom>
          <a:noFill/>
          <a:ln/>
        </p:spPr>
        <p:txBody>
          <a:bodyPr wrap="square" lIns="0" tIns="0" rIns="0" bIns="0" rtlCol="0" anchor="t"/>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The same key at our database and at the payment gateway</a:t>
            </a:r>
            <a:endParaRPr lang="en-US" sz="1400" dirty="0"/>
          </a:p>
        </p:txBody>
      </p:sp>
      <p:sp>
        <p:nvSpPr>
          <p:cNvPr id="20" name="icon tile package-check"/>
          <p:cNvSpPr/>
          <p:nvPr/>
        </p:nvSpPr>
        <p:spPr>
          <a:xfrm>
            <a:off x="548640" y="5193792"/>
            <a:ext cx="566928" cy="566928"/>
          </a:xfrm>
          <a:prstGeom prst="roundRect">
            <a:avLst>
              <a:gd name="adj" fmla="val 19355"/>
            </a:avLst>
          </a:prstGeom>
          <a:solidFill>
            <a:schemeClr val="accent1"/>
          </a:solidFill>
          <a:ln/>
        </p:spPr>
      </p:sp>
      <p:pic>
        <p:nvPicPr>
          <p:cNvPr id="21" name="icon package-check" descr="package check">    </p:cNvPr>
          <p:cNvPicPr>
            <a:picLocks noChangeAspect="1"/>
          </p:cNvPicPr>
          <p:nvPr/>
        </p:nvPicPr>
        <p:blipFill>
          <a:blip r:embed="rId5"/>
          <a:stretch>
            <a:fillRect/>
          </a:stretch>
        </p:blipFill>
        <p:spPr>
          <a:xfrm>
            <a:off x="673364" y="5318516"/>
            <a:ext cx="317480" cy="317480"/>
          </a:xfrm>
          <a:prstGeom prst="rect">
            <a:avLst/>
          </a:prstGeom>
        </p:spPr>
      </p:pic>
      <p:sp>
        <p:nvSpPr>
          <p:cNvPr id="22" name="Text 15"/>
          <p:cNvSpPr txBox="1"/>
          <p:nvPr/>
        </p:nvSpPr>
        <p:spPr>
          <a:xfrm>
            <a:off x="1344168" y="5184648"/>
            <a:ext cx="5120640" cy="32004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Every payment ends well</a:t>
            </a:r>
            <a:endParaRPr lang="en-US" sz="1700" dirty="0"/>
          </a:p>
        </p:txBody>
      </p:sp>
      <p:sp>
        <p:nvSpPr>
          <p:cNvPr id="23" name="Text 16"/>
          <p:cNvSpPr txBox="1"/>
          <p:nvPr/>
        </p:nvSpPr>
        <p:spPr>
          <a:xfrm>
            <a:off x="1344168" y="5513832"/>
            <a:ext cx="5120640" cy="320040"/>
          </a:xfrm>
          <a:prstGeom prst="rect">
            <a:avLst/>
          </a:prstGeom>
          <a:noFill/>
          <a:ln/>
        </p:spPr>
        <p:txBody>
          <a:bodyPr wrap="square" lIns="0" tIns="0" rIns="0" bIns="0" rtlCol="0" anchor="t"/>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Exactly one confirmed order, or a refund</a:t>
            </a:r>
            <a:endParaRPr lang="en-US" sz="1400" dirty="0"/>
          </a:p>
        </p:txBody>
      </p:sp>
      <p:sp>
        <p:nvSpPr>
          <p:cNvPr id="24" name="targets card"/>
          <p:cNvSpPr/>
          <p:nvPr/>
        </p:nvSpPr>
        <p:spPr>
          <a:xfrm>
            <a:off x="6903720" y="1463040"/>
            <a:ext cx="4736592" cy="4526280"/>
          </a:xfrm>
          <a:prstGeom prst="roundRect">
            <a:avLst>
              <a:gd name="adj" fmla="val 2020"/>
            </a:avLst>
          </a:prstGeom>
          <a:solidFill>
            <a:schemeClr val="bg2"/>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25" name="Text 18"/>
          <p:cNvSpPr txBox="1"/>
          <p:nvPr/>
        </p:nvSpPr>
        <p:spPr>
          <a:xfrm>
            <a:off x="7223760" y="1737360"/>
            <a:ext cx="420624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Targets, monitored but not guaranteed</a:t>
            </a:r>
            <a:endParaRPr lang="en-US" sz="1600" dirty="0"/>
          </a:p>
        </p:txBody>
      </p:sp>
      <p:sp>
        <p:nvSpPr>
          <p:cNvPr id="26" name="Text 19"/>
          <p:cNvSpPr txBox="1"/>
          <p:nvPr/>
        </p:nvSpPr>
        <p:spPr>
          <a:xfrm>
            <a:off x="7223760" y="2286000"/>
            <a:ext cx="1600200" cy="45720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 200 ms</a:t>
            </a:r>
            <a:endParaRPr lang="en-US" sz="2000" dirty="0"/>
          </a:p>
        </p:txBody>
      </p:sp>
      <p:sp>
        <p:nvSpPr>
          <p:cNvPr id="27" name="Text 20"/>
          <p:cNvSpPr txBox="1"/>
          <p:nvPr/>
        </p:nvSpPr>
        <p:spPr>
          <a:xfrm>
            <a:off x="8915400" y="2286000"/>
            <a:ext cx="2560320" cy="457200"/>
          </a:xfrm>
          <a:prstGeom prst="rect">
            <a:avLst/>
          </a:prstGeom>
          <a:noFill/>
          <a:ln/>
        </p:spPr>
        <p:txBody>
          <a:bodyPr wrap="square" lIns="0" tIns="0" rIns="0" bIns="0" rtlCol="0" anchor="ctr"/>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reserve p99, server side</a:t>
            </a:r>
            <a:endParaRPr lang="en-US" sz="1400" dirty="0"/>
          </a:p>
        </p:txBody>
      </p:sp>
      <p:sp>
        <p:nvSpPr>
          <p:cNvPr id="28" name="Text 21"/>
          <p:cNvSpPr txBox="1"/>
          <p:nvPr/>
        </p:nvSpPr>
        <p:spPr>
          <a:xfrm>
            <a:off x="7223760" y="2999232"/>
            <a:ext cx="1600200" cy="45720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 50 ms</a:t>
            </a:r>
            <a:endParaRPr lang="en-US" sz="2000" dirty="0"/>
          </a:p>
        </p:txBody>
      </p:sp>
      <p:sp>
        <p:nvSpPr>
          <p:cNvPr id="29" name="Text 22"/>
          <p:cNvSpPr txBox="1"/>
          <p:nvPr/>
        </p:nvSpPr>
        <p:spPr>
          <a:xfrm>
            <a:off x="8915400" y="2999232"/>
            <a:ext cx="2560320" cy="457200"/>
          </a:xfrm>
          <a:prstGeom prst="rect">
            <a:avLst/>
          </a:prstGeom>
          <a:noFill/>
          <a:ln/>
        </p:spPr>
        <p:txBody>
          <a:bodyPr wrap="square" lIns="0" tIns="0" rIns="0" bIns="0" rtlCol="0" anchor="ctr"/>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sold-out answer p99, from Redis</a:t>
            </a:r>
            <a:endParaRPr lang="en-US" sz="1400" dirty="0"/>
          </a:p>
        </p:txBody>
      </p:sp>
      <p:sp>
        <p:nvSpPr>
          <p:cNvPr id="30" name="Text 23"/>
          <p:cNvSpPr txBox="1"/>
          <p:nvPr/>
        </p:nvSpPr>
        <p:spPr>
          <a:xfrm>
            <a:off x="7223760" y="3712464"/>
            <a:ext cx="1600200" cy="45720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 5 s</a:t>
            </a:r>
            <a:endParaRPr lang="en-US" sz="2000" dirty="0"/>
          </a:p>
        </p:txBody>
      </p:sp>
      <p:sp>
        <p:nvSpPr>
          <p:cNvPr id="31" name="Text 24"/>
          <p:cNvSpPr txBox="1"/>
          <p:nvPr/>
        </p:nvSpPr>
        <p:spPr>
          <a:xfrm>
            <a:off x="8915400" y="3712464"/>
            <a:ext cx="2560320" cy="457200"/>
          </a:xfrm>
          <a:prstGeom prst="rect">
            <a:avLst/>
          </a:prstGeom>
          <a:noFill/>
          <a:ln/>
        </p:spPr>
        <p:txBody>
          <a:bodyPr wrap="square" lIns="0" tIns="0" rIns="0" bIns="0" rtlCol="0" anchor="ctr"/>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order confirmed after payment (p95)</a:t>
            </a:r>
            <a:endParaRPr lang="en-US" sz="1400" dirty="0"/>
          </a:p>
        </p:txBody>
      </p:sp>
      <p:sp>
        <p:nvSpPr>
          <p:cNvPr id="32" name="Text 25"/>
          <p:cNvSpPr txBox="1"/>
          <p:nvPr/>
        </p:nvSpPr>
        <p:spPr>
          <a:xfrm>
            <a:off x="7223760" y="4425696"/>
            <a:ext cx="1600200" cy="45720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99.95 %</a:t>
            </a:r>
            <a:endParaRPr lang="en-US" sz="2000" dirty="0"/>
          </a:p>
        </p:txBody>
      </p:sp>
      <p:sp>
        <p:nvSpPr>
          <p:cNvPr id="33" name="Text 26"/>
          <p:cNvSpPr txBox="1"/>
          <p:nvPr/>
        </p:nvSpPr>
        <p:spPr>
          <a:xfrm>
            <a:off x="8915400" y="4425696"/>
            <a:ext cx="2560320" cy="457200"/>
          </a:xfrm>
          <a:prstGeom prst="rect">
            <a:avLst/>
          </a:prstGeom>
          <a:noFill/>
          <a:ln/>
        </p:spPr>
        <p:txBody>
          <a:bodyPr wrap="square" lIns="0" tIns="0" rIns="0" bIns="0" rtlCol="0" anchor="ctr"/>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buy-path availability in the sale window</a:t>
            </a:r>
            <a:endParaRPr lang="en-US" sz="1400" dirty="0"/>
          </a:p>
        </p:txBody>
      </p:sp>
      <p:sp>
        <p:nvSpPr>
          <p:cNvPr id="34" name="Text 27"/>
          <p:cNvSpPr txBox="1"/>
          <p:nvPr/>
        </p:nvSpPr>
        <p:spPr>
          <a:xfrm>
            <a:off x="7223760" y="5138928"/>
            <a:ext cx="1600200" cy="45720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500k req/s</a:t>
            </a:r>
            <a:endParaRPr lang="en-US" sz="2000" dirty="0"/>
          </a:p>
        </p:txBody>
      </p:sp>
      <p:sp>
        <p:nvSpPr>
          <p:cNvPr id="35" name="Text 28"/>
          <p:cNvSpPr txBox="1"/>
          <p:nvPr/>
        </p:nvSpPr>
        <p:spPr>
          <a:xfrm>
            <a:off x="8915400" y="5138928"/>
            <a:ext cx="2560320" cy="457200"/>
          </a:xfrm>
          <a:prstGeom prst="rect">
            <a:avLst/>
          </a:prstGeom>
          <a:noFill/>
          <a:ln/>
        </p:spPr>
        <p:txBody>
          <a:bodyPr wrap="square" lIns="0" tIns="0" rIns="0" bIns="0" rtlCol="0" anchor="ctr"/>
          <a:lstStyle/>
          <a:p>
            <a:pPr indent="0" marL="0">
              <a:buNone/>
            </a:pPr>
            <a:r>
              <a:rPr lang="en-US" sz="1400" dirty="0">
                <a:solidFill>
                  <a:schemeClr val="tx1">
                    <a:alpha val="60000"/>
                  </a:schemeClr>
                </a:solidFill>
                <a:latin typeface="Calibri" pitchFamily="34" charset="0"/>
                <a:ea typeface="Calibri" pitchFamily="34" charset="-122"/>
                <a:cs typeface="Calibri" pitchFamily="34" charset="-120"/>
              </a:rPr>
              <a:t>flash-sale peak absorbed at the edge</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597"/>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778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Each layer sheds load before the database</a:t>
            </a:r>
            <a:endParaRPr lang="en-US" sz="3000" dirty="0"/>
          </a:p>
        </p:txBody>
      </p:sp>
      <p:sp>
        <p:nvSpPr>
          <p:cNvPr id="3" name="pitch timing"/>
          <p:cNvSpPr txBox="1"/>
          <p:nvPr/>
        </p:nvSpPr>
        <p:spPr>
          <a:xfrm>
            <a:off x="9445752" y="530352"/>
            <a:ext cx="2194560" cy="384048"/>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1:00 – 2:00  ·  HLD</a:t>
            </a:r>
            <a:endParaRPr lang="en-US" sz="1200" dirty="0"/>
          </a:p>
        </p:txBody>
      </p:sp>
      <p:sp>
        <p:nvSpPr>
          <p:cNvPr id="4" name="stage Customers"/>
          <p:cNvSpPr/>
          <p:nvPr/>
        </p:nvSpPr>
        <p:spPr>
          <a:xfrm>
            <a:off x="548640" y="1417320"/>
            <a:ext cx="1426464" cy="2331720"/>
          </a:xfrm>
          <a:prstGeom prst="roundRect">
            <a:avLst>
              <a:gd name="adj" fmla="val 6410"/>
            </a:avLst>
          </a:prstGeom>
          <a:solidFill>
            <a:schemeClr val="bg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5" name="icon tile users"/>
          <p:cNvSpPr/>
          <p:nvPr/>
        </p:nvSpPr>
        <p:spPr>
          <a:xfrm>
            <a:off x="713232" y="1600200"/>
            <a:ext cx="457200" cy="457200"/>
          </a:xfrm>
          <a:prstGeom prst="roundRect">
            <a:avLst>
              <a:gd name="adj" fmla="val 24000"/>
            </a:avLst>
          </a:prstGeom>
          <a:solidFill>
            <a:schemeClr val="bg2"/>
          </a:solidFill>
          <a:ln/>
        </p:spPr>
      </p:sp>
      <p:pic>
        <p:nvPicPr>
          <p:cNvPr id="6" name="icon users" descr="users">    </p:cNvPr>
          <p:cNvPicPr>
            <a:picLocks noChangeAspect="1"/>
          </p:cNvPicPr>
          <p:nvPr/>
        </p:nvPicPr>
        <p:blipFill>
          <a:blip r:embed="rId1"/>
          <a:stretch>
            <a:fillRect/>
          </a:stretch>
        </p:blipFill>
        <p:spPr>
          <a:xfrm>
            <a:off x="813816" y="1700784"/>
            <a:ext cx="256032" cy="256032"/>
          </a:xfrm>
          <a:prstGeom prst="rect">
            <a:avLst/>
          </a:prstGeom>
        </p:spPr>
      </p:pic>
      <p:sp>
        <p:nvSpPr>
          <p:cNvPr id="7" name="Text 4"/>
          <p:cNvSpPr txBox="1"/>
          <p:nvPr/>
        </p:nvSpPr>
        <p:spPr>
          <a:xfrm>
            <a:off x="713232" y="2176272"/>
            <a:ext cx="1152144" cy="292608"/>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Customers</a:t>
            </a:r>
            <a:endParaRPr lang="en-US" sz="1300" dirty="0"/>
          </a:p>
        </p:txBody>
      </p:sp>
      <p:sp>
        <p:nvSpPr>
          <p:cNvPr id="8" name="Text 5"/>
          <p:cNvSpPr txBox="1"/>
          <p:nvPr/>
        </p:nvSpPr>
        <p:spPr>
          <a:xfrm>
            <a:off x="713232" y="2514600"/>
            <a:ext cx="1152144" cy="502920"/>
          </a:xfrm>
          <a:prstGeom prst="rect">
            <a:avLst/>
          </a:prstGeom>
          <a:noFill/>
          <a:ln/>
        </p:spPr>
        <p:txBody>
          <a:bodyPr wrap="square" lIns="0" tIns="0" rIns="0" bIns="0" rtlCol="0" anchor="t">
            <a:normAutofit/>
          </a:bodyPr>
          <a:lstStyle/>
          <a:p>
            <a:pPr indent="0" marL="0">
              <a:buNone/>
            </a:pPr>
            <a:r>
              <a:rPr lang="en-US" sz="2400" b="1" dirty="0">
                <a:solidFill>
                  <a:schemeClr val="accent1"/>
                </a:solidFill>
                <a:latin typeface="Arial" pitchFamily="34" charset="0"/>
                <a:ea typeface="Arial" pitchFamily="34" charset="-122"/>
                <a:cs typeface="Arial" pitchFamily="34" charset="-120"/>
              </a:rPr>
              <a:t>10,000</a:t>
            </a:r>
            <a:endParaRPr lang="en-US" sz="2400" dirty="0"/>
          </a:p>
        </p:txBody>
      </p:sp>
      <p:sp>
        <p:nvSpPr>
          <p:cNvPr id="9" name="Text 6"/>
          <p:cNvSpPr txBox="1"/>
          <p:nvPr/>
        </p:nvSpPr>
        <p:spPr>
          <a:xfrm>
            <a:off x="713232" y="3063240"/>
            <a:ext cx="1152144" cy="548640"/>
          </a:xfrm>
          <a:prstGeom prst="rect">
            <a:avLst/>
          </a:prstGeom>
          <a:noFill/>
          <a:ln/>
        </p:spPr>
        <p:txBody>
          <a:bodyPr wrap="square" lIns="0" tIns="0" rIns="0" bIns="0" rtlCol="0" anchor="t"/>
          <a:lstStyle/>
          <a:p>
            <a:pPr indent="0" marL="0">
              <a:buNone/>
            </a:pPr>
            <a:r>
              <a:rPr lang="en-US" sz="1100" dirty="0">
                <a:solidFill>
                  <a:schemeClr val="tx1">
                    <a:alpha val="60000"/>
                  </a:schemeClr>
                </a:solidFill>
                <a:latin typeface="Calibri" pitchFamily="34" charset="0"/>
                <a:ea typeface="Calibri" pitchFamily="34" charset="-122"/>
                <a:cs typeface="Calibri" pitchFamily="34" charset="-120"/>
              </a:rPr>
              <a:t>press Buy now</a:t>
            </a:r>
            <a:endParaRPr lang="en-US" sz="1100" dirty="0"/>
          </a:p>
        </p:txBody>
      </p:sp>
      <p:sp>
        <p:nvSpPr>
          <p:cNvPr id="10" name="arrow 1"/>
          <p:cNvSpPr/>
          <p:nvPr/>
        </p:nvSpPr>
        <p:spPr>
          <a:xfrm>
            <a:off x="1993392" y="2587752"/>
            <a:ext cx="146304" cy="0"/>
          </a:xfrm>
          <a:prstGeom prst="line">
            <a:avLst/>
          </a:prstGeom>
          <a:noFill/>
          <a:ln w="19050">
            <a:solidFill>
              <a:schemeClr val="accent1"/>
            </a:solidFill>
            <a:prstDash val="solid"/>
            <a:tailEnd type="triangle"/>
          </a:ln>
        </p:spPr>
      </p:sp>
      <p:sp>
        <p:nvSpPr>
          <p:cNvPr id="11" name="stage CDN / WAF"/>
          <p:cNvSpPr/>
          <p:nvPr/>
        </p:nvSpPr>
        <p:spPr>
          <a:xfrm>
            <a:off x="2157984" y="1417320"/>
            <a:ext cx="1426464" cy="2331720"/>
          </a:xfrm>
          <a:prstGeom prst="roundRect">
            <a:avLst>
              <a:gd name="adj" fmla="val 6410"/>
            </a:avLst>
          </a:prstGeom>
          <a:solidFill>
            <a:schemeClr val="bg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12" name="icon tile shield-check"/>
          <p:cNvSpPr/>
          <p:nvPr/>
        </p:nvSpPr>
        <p:spPr>
          <a:xfrm>
            <a:off x="2322576" y="1600200"/>
            <a:ext cx="457200" cy="457200"/>
          </a:xfrm>
          <a:prstGeom prst="roundRect">
            <a:avLst>
              <a:gd name="adj" fmla="val 24000"/>
            </a:avLst>
          </a:prstGeom>
          <a:solidFill>
            <a:schemeClr val="bg2"/>
          </a:solidFill>
          <a:ln/>
        </p:spPr>
      </p:sp>
      <p:pic>
        <p:nvPicPr>
          <p:cNvPr id="13" name="icon shield-check" descr="shield check">    </p:cNvPr>
          <p:cNvPicPr>
            <a:picLocks noChangeAspect="1"/>
          </p:cNvPicPr>
          <p:nvPr/>
        </p:nvPicPr>
        <p:blipFill>
          <a:blip r:embed="rId2"/>
          <a:stretch>
            <a:fillRect/>
          </a:stretch>
        </p:blipFill>
        <p:spPr>
          <a:xfrm>
            <a:off x="2423160" y="1700784"/>
            <a:ext cx="256032" cy="256032"/>
          </a:xfrm>
          <a:prstGeom prst="rect">
            <a:avLst/>
          </a:prstGeom>
        </p:spPr>
      </p:pic>
      <p:sp>
        <p:nvSpPr>
          <p:cNvPr id="14" name="Text 10"/>
          <p:cNvSpPr txBox="1"/>
          <p:nvPr/>
        </p:nvSpPr>
        <p:spPr>
          <a:xfrm>
            <a:off x="2322576" y="2176272"/>
            <a:ext cx="1152144" cy="292608"/>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CDN / WAF</a:t>
            </a:r>
            <a:endParaRPr lang="en-US" sz="1300" dirty="0"/>
          </a:p>
        </p:txBody>
      </p:sp>
      <p:sp>
        <p:nvSpPr>
          <p:cNvPr id="15" name="Text 11"/>
          <p:cNvSpPr txBox="1"/>
          <p:nvPr/>
        </p:nvSpPr>
        <p:spPr>
          <a:xfrm>
            <a:off x="2322576" y="2514600"/>
            <a:ext cx="1152144" cy="502920"/>
          </a:xfrm>
          <a:prstGeom prst="rect">
            <a:avLst/>
          </a:prstGeom>
          <a:noFill/>
          <a:ln/>
        </p:spPr>
        <p:txBody>
          <a:bodyPr wrap="square" lIns="0" tIns="0" rIns="0" bIns="0" rtlCol="0" anchor="t">
            <a:normAutofit/>
          </a:bodyPr>
          <a:lstStyle/>
          <a:p>
            <a:pPr indent="0" marL="0">
              <a:buNone/>
            </a:pPr>
            <a:r>
              <a:rPr lang="en-US" sz="2400" b="1" dirty="0">
                <a:solidFill>
                  <a:schemeClr val="accent1"/>
                </a:solidFill>
                <a:latin typeface="Arial" pitchFamily="34" charset="0"/>
                <a:ea typeface="Arial" pitchFamily="34" charset="-122"/>
                <a:cs typeface="Arial" pitchFamily="34" charset="-120"/>
              </a:rPr>
              <a:t>115</a:t>
            </a:r>
            <a:endParaRPr lang="en-US" sz="2400" dirty="0"/>
          </a:p>
        </p:txBody>
      </p:sp>
      <p:sp>
        <p:nvSpPr>
          <p:cNvPr id="16" name="Text 12"/>
          <p:cNvSpPr txBox="1"/>
          <p:nvPr/>
        </p:nvSpPr>
        <p:spPr>
          <a:xfrm>
            <a:off x="2322576" y="3063240"/>
            <a:ext cx="1152144" cy="548640"/>
          </a:xfrm>
          <a:prstGeom prst="rect">
            <a:avLst/>
          </a:prstGeom>
          <a:noFill/>
          <a:ln/>
        </p:spPr>
        <p:txBody>
          <a:bodyPr wrap="square" lIns="0" tIns="0" rIns="0" bIns="0" rtlCol="0" anchor="t"/>
          <a:lstStyle/>
          <a:p>
            <a:pPr indent="0" marL="0">
              <a:buNone/>
            </a:pPr>
            <a:r>
              <a:rPr lang="en-US" sz="1100" dirty="0">
                <a:solidFill>
                  <a:schemeClr val="tx1">
                    <a:alpha val="60000"/>
                  </a:schemeClr>
                </a:solidFill>
                <a:latin typeface="Calibri" pitchFamily="34" charset="0"/>
                <a:ea typeface="Calibri" pitchFamily="34" charset="-122"/>
                <a:cs typeface="Calibri" pitchFamily="34" charset="-120"/>
              </a:rPr>
              <a:t>bots blocked (403)</a:t>
            </a:r>
            <a:endParaRPr lang="en-US" sz="1100" dirty="0"/>
          </a:p>
        </p:txBody>
      </p:sp>
      <p:sp>
        <p:nvSpPr>
          <p:cNvPr id="17" name="arrow 2"/>
          <p:cNvSpPr/>
          <p:nvPr/>
        </p:nvSpPr>
        <p:spPr>
          <a:xfrm>
            <a:off x="3602736" y="2587752"/>
            <a:ext cx="146304" cy="0"/>
          </a:xfrm>
          <a:prstGeom prst="line">
            <a:avLst/>
          </a:prstGeom>
          <a:noFill/>
          <a:ln w="19050">
            <a:solidFill>
              <a:schemeClr val="accent1"/>
            </a:solidFill>
            <a:prstDash val="solid"/>
            <a:tailEnd type="triangle"/>
          </a:ln>
        </p:spPr>
      </p:sp>
      <p:sp>
        <p:nvSpPr>
          <p:cNvPr id="18" name="stage Load balancer"/>
          <p:cNvSpPr/>
          <p:nvPr/>
        </p:nvSpPr>
        <p:spPr>
          <a:xfrm>
            <a:off x="3767328" y="1417320"/>
            <a:ext cx="1426464" cy="2331720"/>
          </a:xfrm>
          <a:prstGeom prst="roundRect">
            <a:avLst>
              <a:gd name="adj" fmla="val 6410"/>
            </a:avLst>
          </a:prstGeom>
          <a:solidFill>
            <a:schemeClr val="bg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19" name="icon tile network"/>
          <p:cNvSpPr/>
          <p:nvPr/>
        </p:nvSpPr>
        <p:spPr>
          <a:xfrm>
            <a:off x="3931920" y="1600200"/>
            <a:ext cx="457200" cy="457200"/>
          </a:xfrm>
          <a:prstGeom prst="roundRect">
            <a:avLst>
              <a:gd name="adj" fmla="val 24000"/>
            </a:avLst>
          </a:prstGeom>
          <a:solidFill>
            <a:schemeClr val="bg2"/>
          </a:solidFill>
          <a:ln/>
        </p:spPr>
      </p:sp>
      <p:pic>
        <p:nvPicPr>
          <p:cNvPr id="20" name="icon network" descr="network">    </p:cNvPr>
          <p:cNvPicPr>
            <a:picLocks noChangeAspect="1"/>
          </p:cNvPicPr>
          <p:nvPr/>
        </p:nvPicPr>
        <p:blipFill>
          <a:blip r:embed="rId3"/>
          <a:stretch>
            <a:fillRect/>
          </a:stretch>
        </p:blipFill>
        <p:spPr>
          <a:xfrm>
            <a:off x="4032504" y="1700784"/>
            <a:ext cx="256032" cy="256032"/>
          </a:xfrm>
          <a:prstGeom prst="rect">
            <a:avLst/>
          </a:prstGeom>
        </p:spPr>
      </p:pic>
      <p:sp>
        <p:nvSpPr>
          <p:cNvPr id="21" name="Text 16"/>
          <p:cNvSpPr txBox="1"/>
          <p:nvPr/>
        </p:nvSpPr>
        <p:spPr>
          <a:xfrm>
            <a:off x="3931920" y="2176272"/>
            <a:ext cx="1152144" cy="292608"/>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Load balancer</a:t>
            </a:r>
            <a:endParaRPr lang="en-US" sz="1300" dirty="0"/>
          </a:p>
        </p:txBody>
      </p:sp>
      <p:sp>
        <p:nvSpPr>
          <p:cNvPr id="22" name="Text 17"/>
          <p:cNvSpPr txBox="1"/>
          <p:nvPr/>
        </p:nvSpPr>
        <p:spPr>
          <a:xfrm>
            <a:off x="3931920" y="2514600"/>
            <a:ext cx="1152144" cy="502920"/>
          </a:xfrm>
          <a:prstGeom prst="rect">
            <a:avLst/>
          </a:prstGeom>
          <a:noFill/>
          <a:ln/>
        </p:spPr>
        <p:txBody>
          <a:bodyPr wrap="square" lIns="0" tIns="0" rIns="0" bIns="0" rtlCol="0" anchor="t">
            <a:normAutofit/>
          </a:bodyPr>
          <a:lstStyle/>
          <a:p>
            <a:pPr indent="0" marL="0">
              <a:buNone/>
            </a:pPr>
            <a:r>
              <a:rPr lang="en-US" sz="2400" b="1" dirty="0">
                <a:solidFill>
                  <a:schemeClr val="accent1"/>
                </a:solidFill>
                <a:latin typeface="Arial" pitchFamily="34" charset="0"/>
                <a:ea typeface="Arial" pitchFamily="34" charset="-122"/>
                <a:cs typeface="Arial" pitchFamily="34" charset="-120"/>
              </a:rPr>
              <a:t>6 pods</a:t>
            </a:r>
            <a:endParaRPr lang="en-US" sz="2400" dirty="0"/>
          </a:p>
        </p:txBody>
      </p:sp>
      <p:sp>
        <p:nvSpPr>
          <p:cNvPr id="23" name="Text 18"/>
          <p:cNvSpPr txBox="1"/>
          <p:nvPr/>
        </p:nvSpPr>
        <p:spPr>
          <a:xfrm>
            <a:off x="3931920" y="3063240"/>
            <a:ext cx="1152144" cy="548640"/>
          </a:xfrm>
          <a:prstGeom prst="rect">
            <a:avLst/>
          </a:prstGeom>
          <a:noFill/>
          <a:ln/>
        </p:spPr>
        <p:txBody>
          <a:bodyPr wrap="square" lIns="0" tIns="0" rIns="0" bIns="0" rtlCol="0" anchor="t"/>
          <a:lstStyle/>
          <a:p>
            <a:pPr indent="0" marL="0">
              <a:buNone/>
            </a:pPr>
            <a:r>
              <a:rPr lang="en-US" sz="1100" dirty="0">
                <a:solidFill>
                  <a:schemeClr val="tx1">
                    <a:alpha val="60000"/>
                  </a:schemeClr>
                </a:solidFill>
                <a:latin typeface="Calibri" pitchFamily="34" charset="0"/>
                <a:ea typeface="Calibri" pitchFamily="34" charset="-122"/>
                <a:cs typeface="Calibri" pitchFamily="34" charset="-120"/>
              </a:rPr>
              <a:t>3 zones, least-request</a:t>
            </a:r>
            <a:endParaRPr lang="en-US" sz="1100" dirty="0"/>
          </a:p>
        </p:txBody>
      </p:sp>
      <p:sp>
        <p:nvSpPr>
          <p:cNvPr id="24" name="arrow 3"/>
          <p:cNvSpPr/>
          <p:nvPr/>
        </p:nvSpPr>
        <p:spPr>
          <a:xfrm>
            <a:off x="5212080" y="2587752"/>
            <a:ext cx="146304" cy="0"/>
          </a:xfrm>
          <a:prstGeom prst="line">
            <a:avLst/>
          </a:prstGeom>
          <a:noFill/>
          <a:ln w="19050">
            <a:solidFill>
              <a:schemeClr val="accent1"/>
            </a:solidFill>
            <a:prstDash val="solid"/>
            <a:tailEnd type="triangle"/>
          </a:ln>
        </p:spPr>
      </p:sp>
      <p:sp>
        <p:nvSpPr>
          <p:cNvPr id="25" name="stage API gateway"/>
          <p:cNvSpPr/>
          <p:nvPr/>
        </p:nvSpPr>
        <p:spPr>
          <a:xfrm>
            <a:off x="5376672" y="1417320"/>
            <a:ext cx="1426464" cy="2331720"/>
          </a:xfrm>
          <a:prstGeom prst="roundRect">
            <a:avLst>
              <a:gd name="adj" fmla="val 6410"/>
            </a:avLst>
          </a:prstGeom>
          <a:solidFill>
            <a:schemeClr val="bg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26" name="icon tile server"/>
          <p:cNvSpPr/>
          <p:nvPr/>
        </p:nvSpPr>
        <p:spPr>
          <a:xfrm>
            <a:off x="5541264" y="1600200"/>
            <a:ext cx="457200" cy="457200"/>
          </a:xfrm>
          <a:prstGeom prst="roundRect">
            <a:avLst>
              <a:gd name="adj" fmla="val 24000"/>
            </a:avLst>
          </a:prstGeom>
          <a:solidFill>
            <a:schemeClr val="bg2"/>
          </a:solidFill>
          <a:ln/>
        </p:spPr>
      </p:sp>
      <p:pic>
        <p:nvPicPr>
          <p:cNvPr id="27" name="icon server" descr="server">    </p:cNvPr>
          <p:cNvPicPr>
            <a:picLocks noChangeAspect="1"/>
          </p:cNvPicPr>
          <p:nvPr/>
        </p:nvPicPr>
        <p:blipFill>
          <a:blip r:embed="rId4"/>
          <a:stretch>
            <a:fillRect/>
          </a:stretch>
        </p:blipFill>
        <p:spPr>
          <a:xfrm>
            <a:off x="5641848" y="1700784"/>
            <a:ext cx="256032" cy="256032"/>
          </a:xfrm>
          <a:prstGeom prst="rect">
            <a:avLst/>
          </a:prstGeom>
        </p:spPr>
      </p:pic>
      <p:sp>
        <p:nvSpPr>
          <p:cNvPr id="28" name="Text 22"/>
          <p:cNvSpPr txBox="1"/>
          <p:nvPr/>
        </p:nvSpPr>
        <p:spPr>
          <a:xfrm>
            <a:off x="5541264" y="2176272"/>
            <a:ext cx="1152144" cy="292608"/>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API gateway</a:t>
            </a:r>
            <a:endParaRPr lang="en-US" sz="1300" dirty="0"/>
          </a:p>
        </p:txBody>
      </p:sp>
      <p:sp>
        <p:nvSpPr>
          <p:cNvPr id="29" name="Text 23"/>
          <p:cNvSpPr txBox="1"/>
          <p:nvPr/>
        </p:nvSpPr>
        <p:spPr>
          <a:xfrm>
            <a:off x="5541264" y="2514600"/>
            <a:ext cx="1152144" cy="502920"/>
          </a:xfrm>
          <a:prstGeom prst="rect">
            <a:avLst/>
          </a:prstGeom>
          <a:noFill/>
          <a:ln/>
        </p:spPr>
        <p:txBody>
          <a:bodyPr wrap="square" lIns="0" tIns="0" rIns="0" bIns="0" rtlCol="0" anchor="t">
            <a:normAutofit/>
          </a:bodyPr>
          <a:lstStyle/>
          <a:p>
            <a:pPr indent="0" marL="0">
              <a:buNone/>
            </a:pPr>
            <a:r>
              <a:rPr lang="en-US" sz="2400" b="1" dirty="0">
                <a:solidFill>
                  <a:schemeClr val="accent1"/>
                </a:solidFill>
                <a:latin typeface="Arial" pitchFamily="34" charset="0"/>
                <a:ea typeface="Arial" pitchFamily="34" charset="-122"/>
                <a:cs typeface="Arial" pitchFamily="34" charset="-120"/>
              </a:rPr>
              <a:t>~1,200</a:t>
            </a:r>
            <a:endParaRPr lang="en-US" sz="2400" dirty="0"/>
          </a:p>
        </p:txBody>
      </p:sp>
      <p:sp>
        <p:nvSpPr>
          <p:cNvPr id="30" name="Text 24"/>
          <p:cNvSpPr txBox="1"/>
          <p:nvPr/>
        </p:nvSpPr>
        <p:spPr>
          <a:xfrm>
            <a:off x="5541264" y="3063240"/>
            <a:ext cx="1152144" cy="548640"/>
          </a:xfrm>
          <a:prstGeom prst="rect">
            <a:avLst/>
          </a:prstGeom>
          <a:noFill/>
          <a:ln/>
        </p:spPr>
        <p:txBody>
          <a:bodyPr wrap="square" lIns="0" tIns="0" rIns="0" bIns="0" rtlCol="0" anchor="t"/>
          <a:lstStyle/>
          <a:p>
            <a:pPr indent="0" marL="0">
              <a:buNone/>
            </a:pPr>
            <a:r>
              <a:rPr lang="en-US" sz="1100" dirty="0">
                <a:solidFill>
                  <a:schemeClr val="tx1">
                    <a:alpha val="60000"/>
                  </a:schemeClr>
                </a:solidFill>
                <a:latin typeface="Calibri" pitchFamily="34" charset="0"/>
                <a:ea typeface="Calibri" pitchFamily="34" charset="-122"/>
                <a:cs typeface="Calibri" pitchFamily="34" charset="-120"/>
              </a:rPr>
              <a:t>throttled (429), retried</a:t>
            </a:r>
            <a:endParaRPr lang="en-US" sz="1100" dirty="0"/>
          </a:p>
        </p:txBody>
      </p:sp>
      <p:sp>
        <p:nvSpPr>
          <p:cNvPr id="31" name="arrow 4"/>
          <p:cNvSpPr/>
          <p:nvPr/>
        </p:nvSpPr>
        <p:spPr>
          <a:xfrm>
            <a:off x="6821424" y="2587752"/>
            <a:ext cx="146304" cy="0"/>
          </a:xfrm>
          <a:prstGeom prst="line">
            <a:avLst/>
          </a:prstGeom>
          <a:noFill/>
          <a:ln w="19050">
            <a:solidFill>
              <a:schemeClr val="accent1"/>
            </a:solidFill>
            <a:prstDash val="solid"/>
            <a:tailEnd type="triangle"/>
          </a:ln>
        </p:spPr>
      </p:sp>
      <p:sp>
        <p:nvSpPr>
          <p:cNvPr id="32" name="stage Redis gate"/>
          <p:cNvSpPr/>
          <p:nvPr/>
        </p:nvSpPr>
        <p:spPr>
          <a:xfrm>
            <a:off x="6986016" y="1417320"/>
            <a:ext cx="1426464" cy="2331720"/>
          </a:xfrm>
          <a:prstGeom prst="roundRect">
            <a:avLst>
              <a:gd name="adj" fmla="val 6410"/>
            </a:avLst>
          </a:prstGeom>
          <a:solidFill>
            <a:schemeClr val="bg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33" name="icon tile filter"/>
          <p:cNvSpPr/>
          <p:nvPr/>
        </p:nvSpPr>
        <p:spPr>
          <a:xfrm>
            <a:off x="7150608" y="1600200"/>
            <a:ext cx="457200" cy="457200"/>
          </a:xfrm>
          <a:prstGeom prst="roundRect">
            <a:avLst>
              <a:gd name="adj" fmla="val 24000"/>
            </a:avLst>
          </a:prstGeom>
          <a:solidFill>
            <a:schemeClr val="bg2"/>
          </a:solidFill>
          <a:ln/>
        </p:spPr>
      </p:sp>
      <p:pic>
        <p:nvPicPr>
          <p:cNvPr id="34" name="icon filter" descr="filter">    </p:cNvPr>
          <p:cNvPicPr>
            <a:picLocks noChangeAspect="1"/>
          </p:cNvPicPr>
          <p:nvPr/>
        </p:nvPicPr>
        <p:blipFill>
          <a:blip r:embed="rId5"/>
          <a:stretch>
            <a:fillRect/>
          </a:stretch>
        </p:blipFill>
        <p:spPr>
          <a:xfrm>
            <a:off x="7251192" y="1700784"/>
            <a:ext cx="256032" cy="256032"/>
          </a:xfrm>
          <a:prstGeom prst="rect">
            <a:avLst/>
          </a:prstGeom>
        </p:spPr>
      </p:pic>
      <p:sp>
        <p:nvSpPr>
          <p:cNvPr id="35" name="Text 28"/>
          <p:cNvSpPr txBox="1"/>
          <p:nvPr/>
        </p:nvSpPr>
        <p:spPr>
          <a:xfrm>
            <a:off x="7150608" y="2176272"/>
            <a:ext cx="1152144" cy="292608"/>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Redis gate</a:t>
            </a:r>
            <a:endParaRPr lang="en-US" sz="1300" dirty="0"/>
          </a:p>
        </p:txBody>
      </p:sp>
      <p:sp>
        <p:nvSpPr>
          <p:cNvPr id="36" name="Text 29"/>
          <p:cNvSpPr txBox="1"/>
          <p:nvPr/>
        </p:nvSpPr>
        <p:spPr>
          <a:xfrm>
            <a:off x="7150608" y="2514600"/>
            <a:ext cx="1152144" cy="502920"/>
          </a:xfrm>
          <a:prstGeom prst="rect">
            <a:avLst/>
          </a:prstGeom>
          <a:noFill/>
          <a:ln/>
        </p:spPr>
        <p:txBody>
          <a:bodyPr wrap="square" lIns="0" tIns="0" rIns="0" bIns="0" rtlCol="0" anchor="t">
            <a:normAutofit/>
          </a:bodyPr>
          <a:lstStyle/>
          <a:p>
            <a:pPr indent="0" marL="0">
              <a:buNone/>
            </a:pPr>
            <a:r>
              <a:rPr lang="en-US" sz="2400" b="1" dirty="0">
                <a:solidFill>
                  <a:schemeClr val="accent1"/>
                </a:solidFill>
                <a:latin typeface="Arial" pitchFamily="34" charset="0"/>
                <a:ea typeface="Arial" pitchFamily="34" charset="-122"/>
                <a:cs typeface="Arial" pitchFamily="34" charset="-120"/>
              </a:rPr>
              <a:t>~9,900</a:t>
            </a:r>
            <a:endParaRPr lang="en-US" sz="2400" dirty="0"/>
          </a:p>
        </p:txBody>
      </p:sp>
      <p:sp>
        <p:nvSpPr>
          <p:cNvPr id="37" name="Text 30"/>
          <p:cNvSpPr txBox="1"/>
          <p:nvPr/>
        </p:nvSpPr>
        <p:spPr>
          <a:xfrm>
            <a:off x="7150608" y="3063240"/>
            <a:ext cx="1152144" cy="548640"/>
          </a:xfrm>
          <a:prstGeom prst="rect">
            <a:avLst/>
          </a:prstGeom>
          <a:noFill/>
          <a:ln/>
        </p:spPr>
        <p:txBody>
          <a:bodyPr wrap="square" lIns="0" tIns="0" rIns="0" bIns="0" rtlCol="0" anchor="t"/>
          <a:lstStyle/>
          <a:p>
            <a:pPr indent="0" marL="0">
              <a:buNone/>
            </a:pPr>
            <a:r>
              <a:rPr lang="en-US" sz="1100" dirty="0">
                <a:solidFill>
                  <a:schemeClr val="tx1">
                    <a:alpha val="60000"/>
                  </a:schemeClr>
                </a:solidFill>
                <a:latin typeface="Calibri" pitchFamily="34" charset="0"/>
                <a:ea typeface="Calibri" pitchFamily="34" charset="-122"/>
                <a:cs typeface="Calibri" pitchFamily="34" charset="-120"/>
              </a:rPr>
              <a:t>sold out, from memory</a:t>
            </a:r>
            <a:endParaRPr lang="en-US" sz="1100" dirty="0"/>
          </a:p>
        </p:txBody>
      </p:sp>
      <p:sp>
        <p:nvSpPr>
          <p:cNvPr id="38" name="arrow 5"/>
          <p:cNvSpPr/>
          <p:nvPr/>
        </p:nvSpPr>
        <p:spPr>
          <a:xfrm>
            <a:off x="8430768" y="2587752"/>
            <a:ext cx="146304" cy="0"/>
          </a:xfrm>
          <a:prstGeom prst="line">
            <a:avLst/>
          </a:prstGeom>
          <a:noFill/>
          <a:ln w="19050">
            <a:solidFill>
              <a:schemeClr val="accent1"/>
            </a:solidFill>
            <a:prstDash val="solid"/>
            <a:tailEnd type="triangle"/>
          </a:ln>
        </p:spPr>
      </p:sp>
      <p:sp>
        <p:nvSpPr>
          <p:cNvPr id="39" name="stage Inventory DB"/>
          <p:cNvSpPr/>
          <p:nvPr/>
        </p:nvSpPr>
        <p:spPr>
          <a:xfrm>
            <a:off x="8595360" y="1417320"/>
            <a:ext cx="1426464" cy="2331720"/>
          </a:xfrm>
          <a:prstGeom prst="roundRect">
            <a:avLst>
              <a:gd name="adj" fmla="val 6410"/>
            </a:avLst>
          </a:prstGeom>
          <a:solidFill>
            <a:schemeClr val="accent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40" name="icon tile database"/>
          <p:cNvSpPr/>
          <p:nvPr/>
        </p:nvSpPr>
        <p:spPr>
          <a:xfrm>
            <a:off x="8759952" y="1600200"/>
            <a:ext cx="457200" cy="457200"/>
          </a:xfrm>
          <a:prstGeom prst="roundRect">
            <a:avLst>
              <a:gd name="adj" fmla="val 24000"/>
            </a:avLst>
          </a:prstGeom>
          <a:solidFill>
            <a:schemeClr val="bg1">
              <a:alpha val="12000"/>
            </a:schemeClr>
          </a:solidFill>
          <a:ln/>
        </p:spPr>
      </p:sp>
      <p:pic>
        <p:nvPicPr>
          <p:cNvPr id="41" name="icon database" descr="database">    </p:cNvPr>
          <p:cNvPicPr>
            <a:picLocks noChangeAspect="1"/>
          </p:cNvPicPr>
          <p:nvPr/>
        </p:nvPicPr>
        <p:blipFill>
          <a:blip r:embed="rId6"/>
          <a:stretch>
            <a:fillRect/>
          </a:stretch>
        </p:blipFill>
        <p:spPr>
          <a:xfrm>
            <a:off x="8860536" y="1700784"/>
            <a:ext cx="256032" cy="256032"/>
          </a:xfrm>
          <a:prstGeom prst="rect">
            <a:avLst/>
          </a:prstGeom>
        </p:spPr>
      </p:pic>
      <p:sp>
        <p:nvSpPr>
          <p:cNvPr id="42" name="Text 34"/>
          <p:cNvSpPr txBox="1"/>
          <p:nvPr/>
        </p:nvSpPr>
        <p:spPr>
          <a:xfrm>
            <a:off x="8759952" y="2176272"/>
            <a:ext cx="1152144" cy="292608"/>
          </a:xfrm>
          <a:prstGeom prst="rect">
            <a:avLst/>
          </a:prstGeom>
          <a:noFill/>
          <a:ln/>
        </p:spPr>
        <p:txBody>
          <a:bodyPr wrap="square" lIns="0" tIns="0" rIns="0" bIns="0" rtlCol="0" anchor="t"/>
          <a:lstStyle/>
          <a:p>
            <a:pPr indent="0" marL="0">
              <a:buNone/>
            </a:pPr>
            <a:r>
              <a:rPr lang="en-US" sz="1300" b="1" dirty="0">
                <a:solidFill>
                  <a:schemeClr val="bg1"/>
                </a:solidFill>
                <a:latin typeface="Calibri" pitchFamily="34" charset="0"/>
                <a:ea typeface="Calibri" pitchFamily="34" charset="-122"/>
                <a:cs typeface="Calibri" pitchFamily="34" charset="-120"/>
              </a:rPr>
              <a:t>Inventory DB</a:t>
            </a:r>
            <a:endParaRPr lang="en-US" sz="1300" dirty="0"/>
          </a:p>
        </p:txBody>
      </p:sp>
      <p:sp>
        <p:nvSpPr>
          <p:cNvPr id="43" name="Text 35"/>
          <p:cNvSpPr txBox="1"/>
          <p:nvPr/>
        </p:nvSpPr>
        <p:spPr>
          <a:xfrm>
            <a:off x="8759952" y="2514600"/>
            <a:ext cx="1152144" cy="502920"/>
          </a:xfrm>
          <a:prstGeom prst="rect">
            <a:avLst/>
          </a:prstGeom>
          <a:noFill/>
          <a:ln/>
        </p:spPr>
        <p:txBody>
          <a:bodyPr wrap="square" lIns="0" tIns="0" rIns="0" bIns="0" rtlCol="0" anchor="t">
            <a:normAutofit/>
          </a:bodyPr>
          <a:lstStyle/>
          <a:p>
            <a:pPr indent="0" marL="0">
              <a:buNone/>
            </a:pPr>
            <a:r>
              <a:rPr lang="en-US" sz="2400" b="1" dirty="0">
                <a:solidFill>
                  <a:schemeClr val="bg1"/>
                </a:solidFill>
                <a:latin typeface="Arial" pitchFamily="34" charset="0"/>
                <a:ea typeface="Arial" pitchFamily="34" charset="-122"/>
                <a:cs typeface="Arial" pitchFamily="34" charset="-120"/>
              </a:rPr>
              <a:t>~108</a:t>
            </a:r>
            <a:endParaRPr lang="en-US" sz="2400" dirty="0"/>
          </a:p>
        </p:txBody>
      </p:sp>
      <p:sp>
        <p:nvSpPr>
          <p:cNvPr id="44" name="Text 36"/>
          <p:cNvSpPr txBox="1"/>
          <p:nvPr/>
        </p:nvSpPr>
        <p:spPr>
          <a:xfrm>
            <a:off x="8759952" y="3063240"/>
            <a:ext cx="1152144" cy="548640"/>
          </a:xfrm>
          <a:prstGeom prst="rect">
            <a:avLst/>
          </a:prstGeom>
          <a:noFill/>
          <a:ln/>
        </p:spPr>
        <p:txBody>
          <a:bodyPr wrap="square" lIns="0" tIns="0" rIns="0" bIns="0" rtlCol="0" anchor="t"/>
          <a:lstStyle/>
          <a:p>
            <a:pPr indent="0" marL="0">
              <a:buNone/>
            </a:pPr>
            <a:r>
              <a:rPr lang="en-US" sz="1100" dirty="0">
                <a:solidFill>
                  <a:schemeClr val="bg1">
                    <a:alpha val="90000"/>
                  </a:schemeClr>
                </a:solidFill>
                <a:latin typeface="Calibri" pitchFamily="34" charset="0"/>
                <a:ea typeface="Calibri" pitchFamily="34" charset="-122"/>
                <a:cs typeface="Calibri" pitchFamily="34" charset="-120"/>
              </a:rPr>
              <a:t>writes reach the row</a:t>
            </a:r>
            <a:endParaRPr lang="en-US" sz="1100" dirty="0"/>
          </a:p>
        </p:txBody>
      </p:sp>
      <p:sp>
        <p:nvSpPr>
          <p:cNvPr id="45" name="arrow 6"/>
          <p:cNvSpPr/>
          <p:nvPr/>
        </p:nvSpPr>
        <p:spPr>
          <a:xfrm>
            <a:off x="10040112" y="2587752"/>
            <a:ext cx="146304" cy="0"/>
          </a:xfrm>
          <a:prstGeom prst="line">
            <a:avLst/>
          </a:prstGeom>
          <a:noFill/>
          <a:ln w="19050">
            <a:solidFill>
              <a:schemeClr val="accent1"/>
            </a:solidFill>
            <a:prstDash val="solid"/>
            <a:tailEnd type="triangle"/>
          </a:ln>
        </p:spPr>
      </p:sp>
      <p:sp>
        <p:nvSpPr>
          <p:cNvPr id="46" name="stage Orders"/>
          <p:cNvSpPr/>
          <p:nvPr/>
        </p:nvSpPr>
        <p:spPr>
          <a:xfrm>
            <a:off x="10204704" y="1417320"/>
            <a:ext cx="1426464" cy="2331720"/>
          </a:xfrm>
          <a:prstGeom prst="roundRect">
            <a:avLst>
              <a:gd name="adj" fmla="val 6410"/>
            </a:avLst>
          </a:prstGeom>
          <a:solidFill>
            <a:schemeClr val="bg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47" name="icon tile package-check"/>
          <p:cNvSpPr/>
          <p:nvPr/>
        </p:nvSpPr>
        <p:spPr>
          <a:xfrm>
            <a:off x="10369296" y="1600200"/>
            <a:ext cx="457200" cy="457200"/>
          </a:xfrm>
          <a:prstGeom prst="roundRect">
            <a:avLst>
              <a:gd name="adj" fmla="val 24000"/>
            </a:avLst>
          </a:prstGeom>
          <a:solidFill>
            <a:schemeClr val="bg2"/>
          </a:solidFill>
          <a:ln/>
        </p:spPr>
      </p:sp>
      <p:pic>
        <p:nvPicPr>
          <p:cNvPr id="48" name="icon package-check" descr="package check">    </p:cNvPr>
          <p:cNvPicPr>
            <a:picLocks noChangeAspect="1"/>
          </p:cNvPicPr>
          <p:nvPr/>
        </p:nvPicPr>
        <p:blipFill>
          <a:blip r:embed="rId7"/>
          <a:stretch>
            <a:fillRect/>
          </a:stretch>
        </p:blipFill>
        <p:spPr>
          <a:xfrm>
            <a:off x="10469880" y="1700784"/>
            <a:ext cx="256032" cy="256032"/>
          </a:xfrm>
          <a:prstGeom prst="rect">
            <a:avLst/>
          </a:prstGeom>
        </p:spPr>
      </p:pic>
      <p:sp>
        <p:nvSpPr>
          <p:cNvPr id="49" name="Text 40"/>
          <p:cNvSpPr txBox="1"/>
          <p:nvPr/>
        </p:nvSpPr>
        <p:spPr>
          <a:xfrm>
            <a:off x="10369296" y="2176272"/>
            <a:ext cx="1152144" cy="292608"/>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Orders</a:t>
            </a:r>
            <a:endParaRPr lang="en-US" sz="1300" dirty="0"/>
          </a:p>
        </p:txBody>
      </p:sp>
      <p:sp>
        <p:nvSpPr>
          <p:cNvPr id="50" name="Text 41"/>
          <p:cNvSpPr txBox="1"/>
          <p:nvPr/>
        </p:nvSpPr>
        <p:spPr>
          <a:xfrm>
            <a:off x="10369296" y="2514600"/>
            <a:ext cx="1152144" cy="502920"/>
          </a:xfrm>
          <a:prstGeom prst="rect">
            <a:avLst/>
          </a:prstGeom>
          <a:noFill/>
          <a:ln/>
        </p:spPr>
        <p:txBody>
          <a:bodyPr wrap="square" lIns="0" tIns="0" rIns="0" bIns="0" rtlCol="0" anchor="t">
            <a:normAutofit/>
          </a:bodyPr>
          <a:lstStyle/>
          <a:p>
            <a:pPr indent="0" marL="0">
              <a:buNone/>
            </a:pPr>
            <a:r>
              <a:rPr lang="en-US" sz="2400" b="1" dirty="0">
                <a:solidFill>
                  <a:schemeClr val="accent1"/>
                </a:solidFill>
                <a:latin typeface="Arial" pitchFamily="34" charset="0"/>
                <a:ea typeface="Arial" pitchFamily="34" charset="-122"/>
                <a:cs typeface="Arial" pitchFamily="34" charset="-120"/>
              </a:rPr>
              <a:t>100</a:t>
            </a:r>
            <a:endParaRPr lang="en-US" sz="2400" dirty="0"/>
          </a:p>
        </p:txBody>
      </p:sp>
      <p:sp>
        <p:nvSpPr>
          <p:cNvPr id="51" name="Text 42"/>
          <p:cNvSpPr txBox="1"/>
          <p:nvPr/>
        </p:nvSpPr>
        <p:spPr>
          <a:xfrm>
            <a:off x="10369296" y="3063240"/>
            <a:ext cx="1152144" cy="548640"/>
          </a:xfrm>
          <a:prstGeom prst="rect">
            <a:avLst/>
          </a:prstGeom>
          <a:noFill/>
          <a:ln/>
        </p:spPr>
        <p:txBody>
          <a:bodyPr wrap="square" lIns="0" tIns="0" rIns="0" bIns="0" rtlCol="0" anchor="t"/>
          <a:lstStyle/>
          <a:p>
            <a:pPr indent="0" marL="0">
              <a:buNone/>
            </a:pPr>
            <a:r>
              <a:rPr lang="en-US" sz="1100" dirty="0">
                <a:solidFill>
                  <a:schemeClr val="tx1">
                    <a:alpha val="60000"/>
                  </a:schemeClr>
                </a:solidFill>
                <a:latin typeface="Calibri" pitchFamily="34" charset="0"/>
                <a:ea typeface="Calibri" pitchFamily="34" charset="-122"/>
                <a:cs typeface="Calibri" pitchFamily="34" charset="-120"/>
              </a:rPr>
              <a:t>confirmed via Kafka</a:t>
            </a:r>
            <a:endParaRPr lang="en-US" sz="1100" dirty="0"/>
          </a:p>
        </p:txBody>
      </p:sp>
      <p:sp>
        <p:nvSpPr>
          <p:cNvPr id="52" name="Text 43"/>
          <p:cNvSpPr txBox="1"/>
          <p:nvPr/>
        </p:nvSpPr>
        <p:spPr>
          <a:xfrm>
            <a:off x="548640" y="3886200"/>
            <a:ext cx="11064240" cy="274320"/>
          </a:xfrm>
          <a:prstGeom prst="rect">
            <a:avLst/>
          </a:prstGeom>
          <a:noFill/>
          <a:ln/>
        </p:spPr>
        <p:txBody>
          <a:bodyPr wrap="square" lIns="0" tIns="0" rIns="0" bIns="0" rtlCol="0" anchor="t"/>
          <a:lstStyle/>
          <a:p>
            <a:pPr indent="0" marL="0">
              <a:buNone/>
            </a:pPr>
            <a:r>
              <a:rPr lang="en-US" sz="1200" i="1" dirty="0">
                <a:solidFill>
                  <a:schemeClr val="tx1">
                    <a:alpha val="60000"/>
                  </a:schemeClr>
                </a:solidFill>
                <a:latin typeface="Calibri" pitchFamily="34" charset="0"/>
                <a:ea typeface="Calibri" pitchFamily="34" charset="-122"/>
                <a:cs typeface="Calibri" pitchFamily="34" charset="-120"/>
              </a:rPr>
              <a:t>Measured in our 10,000-customer simulation. The database is the only consistency point; Redis is a filter.</a:t>
            </a:r>
            <a:endParaRPr lang="en-US" sz="1200" dirty="0"/>
          </a:p>
        </p:txBody>
      </p:sp>
      <p:sp>
        <p:nvSpPr>
          <p:cNvPr id="53" name="mode Synchronous: decisions"/>
          <p:cNvSpPr/>
          <p:nvPr/>
        </p:nvSpPr>
        <p:spPr>
          <a:xfrm>
            <a:off x="548640" y="4343400"/>
            <a:ext cx="3566160" cy="1691640"/>
          </a:xfrm>
          <a:prstGeom prst="roundRect">
            <a:avLst>
              <a:gd name="adj" fmla="val 5405"/>
            </a:avLst>
          </a:prstGeom>
          <a:solidFill>
            <a:schemeClr val="bg2"/>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54" name="icon tile zap"/>
          <p:cNvSpPr/>
          <p:nvPr/>
        </p:nvSpPr>
        <p:spPr>
          <a:xfrm>
            <a:off x="777240" y="4572000"/>
            <a:ext cx="457200" cy="457200"/>
          </a:xfrm>
          <a:prstGeom prst="roundRect">
            <a:avLst>
              <a:gd name="adj" fmla="val 24000"/>
            </a:avLst>
          </a:prstGeom>
          <a:solidFill>
            <a:schemeClr val="accent1"/>
          </a:solidFill>
          <a:ln/>
        </p:spPr>
      </p:sp>
      <p:pic>
        <p:nvPicPr>
          <p:cNvPr id="55" name="icon zap" descr="zap">    </p:cNvPr>
          <p:cNvPicPr>
            <a:picLocks noChangeAspect="1"/>
          </p:cNvPicPr>
          <p:nvPr/>
        </p:nvPicPr>
        <p:blipFill>
          <a:blip r:embed="rId8"/>
          <a:stretch>
            <a:fillRect/>
          </a:stretch>
        </p:blipFill>
        <p:spPr>
          <a:xfrm>
            <a:off x="877824" y="4672584"/>
            <a:ext cx="256032" cy="256032"/>
          </a:xfrm>
          <a:prstGeom prst="rect">
            <a:avLst/>
          </a:prstGeom>
        </p:spPr>
      </p:pic>
      <p:sp>
        <p:nvSpPr>
          <p:cNvPr id="56" name="Text 46"/>
          <p:cNvSpPr txBox="1"/>
          <p:nvPr/>
        </p:nvSpPr>
        <p:spPr>
          <a:xfrm>
            <a:off x="1371600" y="4617720"/>
            <a:ext cx="2606040" cy="3657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Synchronous: decisions</a:t>
            </a:r>
            <a:endParaRPr lang="en-US" sz="1500" dirty="0"/>
          </a:p>
        </p:txBody>
      </p:sp>
      <p:sp>
        <p:nvSpPr>
          <p:cNvPr id="57" name="Text 47"/>
          <p:cNvSpPr txBox="1"/>
          <p:nvPr/>
        </p:nvSpPr>
        <p:spPr>
          <a:xfrm>
            <a:off x="777240" y="5138928"/>
            <a:ext cx="3154680" cy="822960"/>
          </a:xfrm>
          <a:prstGeom prst="rect">
            <a:avLst/>
          </a:prstGeom>
          <a:noFill/>
          <a:ln/>
        </p:spPr>
        <p:txBody>
          <a:bodyPr wrap="square" lIns="0" tIns="0" rIns="0" bIns="0" rtlCol="0" anchor="t"/>
          <a:lstStyle/>
          <a:p>
            <a:pPr indent="0" marL="0">
              <a:buNone/>
            </a:pPr>
            <a:r>
              <a:rPr lang="en-US" sz="1250" dirty="0">
                <a:solidFill>
                  <a:schemeClr val="tx1">
                    <a:alpha val="60000"/>
                  </a:schemeClr>
                </a:solidFill>
                <a:latin typeface="Calibri" pitchFamily="34" charset="0"/>
                <a:ea typeface="Calibri" pitchFamily="34" charset="-122"/>
                <a:cs typeface="Calibri" pitchFamily="34" charset="-120"/>
              </a:rPr>
              <a:t>Reserve, start payment, charge. The customer needs the answer now, so these are request/response calls.</a:t>
            </a:r>
            <a:endParaRPr lang="en-US" sz="1250" dirty="0"/>
          </a:p>
        </p:txBody>
      </p:sp>
      <p:sp>
        <p:nvSpPr>
          <p:cNvPr id="58" name="mode Asynchronous: consequences"/>
          <p:cNvSpPr/>
          <p:nvPr/>
        </p:nvSpPr>
        <p:spPr>
          <a:xfrm>
            <a:off x="4297680" y="4343400"/>
            <a:ext cx="3566160" cy="1691640"/>
          </a:xfrm>
          <a:prstGeom prst="roundRect">
            <a:avLst>
              <a:gd name="adj" fmla="val 5405"/>
            </a:avLst>
          </a:prstGeom>
          <a:solidFill>
            <a:schemeClr val="bg2"/>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59" name="icon tile workflow"/>
          <p:cNvSpPr/>
          <p:nvPr/>
        </p:nvSpPr>
        <p:spPr>
          <a:xfrm>
            <a:off x="4526280" y="4572000"/>
            <a:ext cx="457200" cy="457200"/>
          </a:xfrm>
          <a:prstGeom prst="roundRect">
            <a:avLst>
              <a:gd name="adj" fmla="val 24000"/>
            </a:avLst>
          </a:prstGeom>
          <a:solidFill>
            <a:schemeClr val="accent1"/>
          </a:solidFill>
          <a:ln/>
        </p:spPr>
      </p:sp>
      <p:pic>
        <p:nvPicPr>
          <p:cNvPr id="60" name="icon workflow" descr="workflow">    </p:cNvPr>
          <p:cNvPicPr>
            <a:picLocks noChangeAspect="1"/>
          </p:cNvPicPr>
          <p:nvPr/>
        </p:nvPicPr>
        <p:blipFill>
          <a:blip r:embed="rId9"/>
          <a:stretch>
            <a:fillRect/>
          </a:stretch>
        </p:blipFill>
        <p:spPr>
          <a:xfrm>
            <a:off x="4626864" y="4672584"/>
            <a:ext cx="256032" cy="256032"/>
          </a:xfrm>
          <a:prstGeom prst="rect">
            <a:avLst/>
          </a:prstGeom>
        </p:spPr>
      </p:pic>
      <p:sp>
        <p:nvSpPr>
          <p:cNvPr id="61" name="Text 50"/>
          <p:cNvSpPr txBox="1"/>
          <p:nvPr/>
        </p:nvSpPr>
        <p:spPr>
          <a:xfrm>
            <a:off x="5120640" y="4617720"/>
            <a:ext cx="2606040" cy="3657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Asynchronous: consequences</a:t>
            </a:r>
            <a:endParaRPr lang="en-US" sz="1500" dirty="0"/>
          </a:p>
        </p:txBody>
      </p:sp>
      <p:sp>
        <p:nvSpPr>
          <p:cNvPr id="62" name="Text 51"/>
          <p:cNvSpPr txBox="1"/>
          <p:nvPr/>
        </p:nvSpPr>
        <p:spPr>
          <a:xfrm>
            <a:off x="4526280" y="5138928"/>
            <a:ext cx="3154680" cy="822960"/>
          </a:xfrm>
          <a:prstGeom prst="rect">
            <a:avLst/>
          </a:prstGeom>
          <a:noFill/>
          <a:ln/>
        </p:spPr>
        <p:txBody>
          <a:bodyPr wrap="square" lIns="0" tIns="0" rIns="0" bIns="0" rtlCol="0" anchor="t"/>
          <a:lstStyle/>
          <a:p>
            <a:pPr indent="0" marL="0">
              <a:buNone/>
            </a:pPr>
            <a:r>
              <a:rPr lang="en-US" sz="1250" dirty="0">
                <a:solidFill>
                  <a:schemeClr val="tx1">
                    <a:alpha val="60000"/>
                  </a:schemeClr>
                </a:solidFill>
                <a:latin typeface="Calibri" pitchFamily="34" charset="0"/>
                <a:ea typeface="Calibri" pitchFamily="34" charset="-122"/>
                <a:cs typeface="Calibri" pitchFamily="34" charset="-120"/>
              </a:rPr>
              <a:t>Confirm stock, create the order, fulfil, notify. Events go through a transactional outbox and Kafka.</a:t>
            </a:r>
            <a:endParaRPr lang="en-US" sz="1250" dirty="0"/>
          </a:p>
        </p:txBody>
      </p:sp>
      <p:sp>
        <p:nvSpPr>
          <p:cNvPr id="63" name="mode Database per service"/>
          <p:cNvSpPr/>
          <p:nvPr/>
        </p:nvSpPr>
        <p:spPr>
          <a:xfrm>
            <a:off x="8046720" y="4343400"/>
            <a:ext cx="3566160" cy="1691640"/>
          </a:xfrm>
          <a:prstGeom prst="roundRect">
            <a:avLst>
              <a:gd name="adj" fmla="val 5405"/>
            </a:avLst>
          </a:prstGeom>
          <a:solidFill>
            <a:schemeClr val="bg2"/>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64" name="icon tile boxes"/>
          <p:cNvSpPr/>
          <p:nvPr/>
        </p:nvSpPr>
        <p:spPr>
          <a:xfrm>
            <a:off x="8275320" y="4572000"/>
            <a:ext cx="457200" cy="457200"/>
          </a:xfrm>
          <a:prstGeom prst="roundRect">
            <a:avLst>
              <a:gd name="adj" fmla="val 24000"/>
            </a:avLst>
          </a:prstGeom>
          <a:solidFill>
            <a:schemeClr val="accent1"/>
          </a:solidFill>
          <a:ln/>
        </p:spPr>
      </p:sp>
      <p:pic>
        <p:nvPicPr>
          <p:cNvPr id="65" name="icon boxes" descr="boxes">    </p:cNvPr>
          <p:cNvPicPr>
            <a:picLocks noChangeAspect="1"/>
          </p:cNvPicPr>
          <p:nvPr/>
        </p:nvPicPr>
        <p:blipFill>
          <a:blip r:embed="rId10"/>
          <a:stretch>
            <a:fillRect/>
          </a:stretch>
        </p:blipFill>
        <p:spPr>
          <a:xfrm>
            <a:off x="8375904" y="4672584"/>
            <a:ext cx="256032" cy="256032"/>
          </a:xfrm>
          <a:prstGeom prst="rect">
            <a:avLst/>
          </a:prstGeom>
        </p:spPr>
      </p:pic>
      <p:sp>
        <p:nvSpPr>
          <p:cNvPr id="66" name="Text 54"/>
          <p:cNvSpPr txBox="1"/>
          <p:nvPr/>
        </p:nvSpPr>
        <p:spPr>
          <a:xfrm>
            <a:off x="8869680" y="4617720"/>
            <a:ext cx="2606040" cy="3657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Database per service</a:t>
            </a:r>
            <a:endParaRPr lang="en-US" sz="1500" dirty="0"/>
          </a:p>
        </p:txBody>
      </p:sp>
      <p:sp>
        <p:nvSpPr>
          <p:cNvPr id="67" name="Text 55"/>
          <p:cNvSpPr txBox="1"/>
          <p:nvPr/>
        </p:nvSpPr>
        <p:spPr>
          <a:xfrm>
            <a:off x="8275320" y="5138928"/>
            <a:ext cx="3154680" cy="822960"/>
          </a:xfrm>
          <a:prstGeom prst="rect">
            <a:avLst/>
          </a:prstGeom>
          <a:noFill/>
          <a:ln/>
        </p:spPr>
        <p:txBody>
          <a:bodyPr wrap="square" lIns="0" tIns="0" rIns="0" bIns="0" rtlCol="0" anchor="t"/>
          <a:lstStyle/>
          <a:p>
            <a:pPr indent="0" marL="0">
              <a:buNone/>
            </a:pPr>
            <a:r>
              <a:rPr lang="en-US" sz="1250" dirty="0">
                <a:solidFill>
                  <a:schemeClr val="tx1">
                    <a:alpha val="60000"/>
                  </a:schemeClr>
                </a:solidFill>
                <a:latin typeface="Calibri" pitchFamily="34" charset="0"/>
                <a:ea typeface="Calibri" pitchFamily="34" charset="-122"/>
                <a:cs typeface="Calibri" pitchFamily="34" charset="-120"/>
              </a:rPr>
              <a:t>Inventory, payment and order each own their data. Boundaries follow consistency boundaries.</a:t>
            </a:r>
            <a:endParaRPr lang="en-US" sz="12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597"/>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778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One SQL statement stops overselling</a:t>
            </a:r>
            <a:endParaRPr lang="en-US" sz="3000" dirty="0"/>
          </a:p>
        </p:txBody>
      </p:sp>
      <p:sp>
        <p:nvSpPr>
          <p:cNvPr id="3" name="pitch timing"/>
          <p:cNvSpPr txBox="1"/>
          <p:nvPr/>
        </p:nvSpPr>
        <p:spPr>
          <a:xfrm>
            <a:off x="9445752" y="530352"/>
            <a:ext cx="2194560" cy="384048"/>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2:00 – 3:00  ·  Concurrency</a:t>
            </a:r>
            <a:endParaRPr lang="en-US" sz="1200" dirty="0"/>
          </a:p>
        </p:txBody>
      </p:sp>
      <p:sp>
        <p:nvSpPr>
          <p:cNvPr id="4" name="sql card"/>
          <p:cNvSpPr/>
          <p:nvPr/>
        </p:nvSpPr>
        <p:spPr>
          <a:xfrm>
            <a:off x="548640" y="1417320"/>
            <a:ext cx="5120640" cy="1828800"/>
          </a:xfrm>
          <a:prstGeom prst="roundRect">
            <a:avLst>
              <a:gd name="adj" fmla="val 5000"/>
            </a:avLst>
          </a:prstGeom>
          <a:solidFill>
            <a:schemeClr val="tx2"/>
          </a:solidFill>
          <a:ln/>
        </p:spPr>
      </p:sp>
      <p:sp>
        <p:nvSpPr>
          <p:cNvPr id="5" name="Text 3"/>
          <p:cNvSpPr txBox="1"/>
          <p:nvPr/>
        </p:nvSpPr>
        <p:spPr>
          <a:xfrm>
            <a:off x="868680" y="1645920"/>
            <a:ext cx="4572000" cy="1371600"/>
          </a:xfrm>
          <a:prstGeom prst="rect">
            <a:avLst/>
          </a:prstGeom>
          <a:noFill/>
          <a:ln/>
        </p:spPr>
        <p:txBody>
          <a:bodyPr wrap="square" lIns="0" tIns="0" rIns="0" bIns="0" rtlCol="0" anchor="ctr"/>
          <a:lstStyle/>
          <a:p>
            <a:pPr indent="0" marL="0">
              <a:buNone/>
            </a:pPr>
            <a:r>
              <a:rPr lang="en-US" sz="1800" b="1" dirty="0">
                <a:solidFill>
                  <a:srgbClr val="F0A830"/>
                </a:solidFill>
                <a:latin typeface="Courier New" pitchFamily="34" charset="0"/>
                <a:ea typeface="Courier New" pitchFamily="34" charset="-122"/>
                <a:cs typeface="Courier New" pitchFamily="34" charset="-120"/>
              </a:rPr>
              <a:t>UPDATE</a:t>
            </a:r>
            <a:pPr indent="0" marL="0">
              <a:buNone/>
            </a:pPr>
            <a:r>
              <a:rPr lang="en-US" sz="1800" dirty="0">
                <a:solidFill>
                  <a:srgbClr val="FFFFFF"/>
                </a:solidFill>
                <a:latin typeface="Courier New" pitchFamily="34" charset="0"/>
                <a:ea typeface="Courier New" pitchFamily="34" charset="-122"/>
                <a:cs typeface="Courier New" pitchFamily="34" charset="-120"/>
              </a:rPr>
              <a:t> inventory</a:t>
            </a:r>
            <a:endParaRPr lang="en-US" sz="1800" dirty="0"/>
          </a:p>
          <a:p>
            <a:pPr indent="0" marL="0">
              <a:buNone/>
            </a:pPr>
            <a:r>
              <a:rPr lang="en-US" sz="1800" b="1" dirty="0">
                <a:solidFill>
                  <a:srgbClr val="F0A830"/>
                </a:solidFill>
                <a:latin typeface="Courier New" pitchFamily="34" charset="0"/>
                <a:ea typeface="Courier New" pitchFamily="34" charset="-122"/>
                <a:cs typeface="Courier New" pitchFamily="34" charset="-120"/>
              </a:rPr>
              <a:t>   SET</a:t>
            </a:r>
            <a:pPr indent="0" marL="0">
              <a:buNone/>
            </a:pPr>
            <a:r>
              <a:rPr lang="en-US" sz="1800" dirty="0">
                <a:solidFill>
                  <a:srgbClr val="FFFFFF"/>
                </a:solidFill>
                <a:latin typeface="Courier New" pitchFamily="34" charset="0"/>
                <a:ea typeface="Courier New" pitchFamily="34" charset="-122"/>
                <a:cs typeface="Courier New" pitchFamily="34" charset="-120"/>
              </a:rPr>
              <a:t> available = available - 1,</a:t>
            </a:r>
            <a:endParaRPr lang="en-US" sz="1800" dirty="0"/>
          </a:p>
          <a:p>
            <a:pPr indent="0" marL="0">
              <a:buNone/>
            </a:pPr>
            <a:r>
              <a:rPr lang="en-US" sz="1800" dirty="0">
                <a:solidFill>
                  <a:srgbClr val="FFFFFF"/>
                </a:solidFill>
                <a:latin typeface="Courier New" pitchFamily="34" charset="0"/>
                <a:ea typeface="Courier New" pitchFamily="34" charset="-122"/>
                <a:cs typeface="Courier New" pitchFamily="34" charset="-120"/>
              </a:rPr>
              <a:t>       reserved  = reserved + 1</a:t>
            </a:r>
            <a:endParaRPr lang="en-US" sz="1800" dirty="0"/>
          </a:p>
          <a:p>
            <a:pPr indent="0" marL="0">
              <a:buNone/>
            </a:pPr>
            <a:r>
              <a:rPr lang="en-US" sz="1800" b="1" dirty="0">
                <a:solidFill>
                  <a:srgbClr val="F0A830"/>
                </a:solidFill>
                <a:latin typeface="Courier New" pitchFamily="34" charset="0"/>
                <a:ea typeface="Courier New" pitchFamily="34" charset="-122"/>
                <a:cs typeface="Courier New" pitchFamily="34" charset="-120"/>
              </a:rPr>
              <a:t> WHERE</a:t>
            </a:r>
            <a:pPr indent="0" marL="0">
              <a:buNone/>
            </a:pPr>
            <a:r>
              <a:rPr lang="en-US" sz="1800" dirty="0">
                <a:solidFill>
                  <a:srgbClr val="FFFFFF"/>
                </a:solidFill>
                <a:latin typeface="Courier New" pitchFamily="34" charset="0"/>
                <a:ea typeface="Courier New" pitchFamily="34" charset="-122"/>
                <a:cs typeface="Courier New" pitchFamily="34" charset="-120"/>
              </a:rPr>
              <a:t> available &gt;= 1;</a:t>
            </a:r>
            <a:endParaRPr lang="en-US" sz="1800" dirty="0"/>
          </a:p>
        </p:txBody>
      </p:sp>
      <p:sp>
        <p:nvSpPr>
          <p:cNvPr id="6" name="icon tile lock"/>
          <p:cNvSpPr/>
          <p:nvPr/>
        </p:nvSpPr>
        <p:spPr>
          <a:xfrm>
            <a:off x="548640" y="3520440"/>
            <a:ext cx="457200" cy="457200"/>
          </a:xfrm>
          <a:prstGeom prst="roundRect">
            <a:avLst>
              <a:gd name="adj" fmla="val 24000"/>
            </a:avLst>
          </a:prstGeom>
          <a:solidFill>
            <a:schemeClr val="bg2"/>
          </a:solidFill>
          <a:ln/>
        </p:spPr>
      </p:sp>
      <p:pic>
        <p:nvPicPr>
          <p:cNvPr id="7" name="icon lock" descr="lock">    </p:cNvPr>
          <p:cNvPicPr>
            <a:picLocks noChangeAspect="1"/>
          </p:cNvPicPr>
          <p:nvPr/>
        </p:nvPicPr>
        <p:blipFill>
          <a:blip r:embed="rId1"/>
          <a:stretch>
            <a:fillRect/>
          </a:stretch>
        </p:blipFill>
        <p:spPr>
          <a:xfrm>
            <a:off x="649224" y="3621024"/>
            <a:ext cx="256032" cy="256032"/>
          </a:xfrm>
          <a:prstGeom prst="rect">
            <a:avLst/>
          </a:prstGeom>
        </p:spPr>
      </p:pic>
      <p:sp>
        <p:nvSpPr>
          <p:cNvPr id="8" name="Text 5"/>
          <p:cNvSpPr txBox="1"/>
          <p:nvPr/>
        </p:nvSpPr>
        <p:spPr>
          <a:xfrm>
            <a:off x="1188720" y="3502152"/>
            <a:ext cx="44805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Two buyers, last unit: the row lock serialises them. The second re-checks the guard, updates 0 rows and gets SOLD_OUT.</a:t>
            </a:r>
            <a:endParaRPr lang="en-US" sz="1400" dirty="0"/>
          </a:p>
        </p:txBody>
      </p:sp>
      <p:sp>
        <p:nvSpPr>
          <p:cNvPr id="9" name="icon tile filter"/>
          <p:cNvSpPr/>
          <p:nvPr/>
        </p:nvSpPr>
        <p:spPr>
          <a:xfrm>
            <a:off x="548640" y="4389120"/>
            <a:ext cx="457200" cy="457200"/>
          </a:xfrm>
          <a:prstGeom prst="roundRect">
            <a:avLst>
              <a:gd name="adj" fmla="val 24000"/>
            </a:avLst>
          </a:prstGeom>
          <a:solidFill>
            <a:schemeClr val="bg2"/>
          </a:solidFill>
          <a:ln/>
        </p:spPr>
      </p:sp>
      <p:pic>
        <p:nvPicPr>
          <p:cNvPr id="10" name="icon filter" descr="filter">    </p:cNvPr>
          <p:cNvPicPr>
            <a:picLocks noChangeAspect="1"/>
          </p:cNvPicPr>
          <p:nvPr/>
        </p:nvPicPr>
        <p:blipFill>
          <a:blip r:embed="rId2"/>
          <a:stretch>
            <a:fillRect/>
          </a:stretch>
        </p:blipFill>
        <p:spPr>
          <a:xfrm>
            <a:off x="649224" y="4489704"/>
            <a:ext cx="256032" cy="256032"/>
          </a:xfrm>
          <a:prstGeom prst="rect">
            <a:avLst/>
          </a:prstGeom>
        </p:spPr>
      </p:pic>
      <p:sp>
        <p:nvSpPr>
          <p:cNvPr id="11" name="Text 7"/>
          <p:cNvSpPr txBox="1"/>
          <p:nvPr/>
        </p:nvSpPr>
        <p:spPr>
          <a:xfrm>
            <a:off x="1188720" y="4370832"/>
            <a:ext cx="44805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Redis gate stops about 99 % of requests before they reach the row.</a:t>
            </a:r>
            <a:endParaRPr lang="en-US" sz="1400" dirty="0"/>
          </a:p>
        </p:txBody>
      </p:sp>
      <p:sp>
        <p:nvSpPr>
          <p:cNvPr id="12" name="icon tile shield-check"/>
          <p:cNvSpPr/>
          <p:nvPr/>
        </p:nvSpPr>
        <p:spPr>
          <a:xfrm>
            <a:off x="548640" y="5257800"/>
            <a:ext cx="457200" cy="457200"/>
          </a:xfrm>
          <a:prstGeom prst="roundRect">
            <a:avLst>
              <a:gd name="adj" fmla="val 24000"/>
            </a:avLst>
          </a:prstGeom>
          <a:solidFill>
            <a:schemeClr val="bg2"/>
          </a:solidFill>
          <a:ln/>
        </p:spPr>
      </p:sp>
      <p:pic>
        <p:nvPicPr>
          <p:cNvPr id="13" name="icon shield-check" descr="shield check">    </p:cNvPr>
          <p:cNvPicPr>
            <a:picLocks noChangeAspect="1"/>
          </p:cNvPicPr>
          <p:nvPr/>
        </p:nvPicPr>
        <p:blipFill>
          <a:blip r:embed="rId3"/>
          <a:stretch>
            <a:fillRect/>
          </a:stretch>
        </p:blipFill>
        <p:spPr>
          <a:xfrm>
            <a:off x="649224" y="5358384"/>
            <a:ext cx="256032" cy="256032"/>
          </a:xfrm>
          <a:prstGeom prst="rect">
            <a:avLst/>
          </a:prstGeom>
        </p:spPr>
      </p:pic>
      <p:sp>
        <p:nvSpPr>
          <p:cNvPr id="14" name="Text 9"/>
          <p:cNvSpPr txBox="1"/>
          <p:nvPr/>
        </p:nvSpPr>
        <p:spPr>
          <a:xfrm>
            <a:off x="1188720" y="5239512"/>
            <a:ext cx="44805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CHECK (available &gt;= 0) is the backstop if any code path is ever wrong.</a:t>
            </a:r>
            <a:endParaRPr lang="en-US" sz="1400" dirty="0"/>
          </a:p>
        </p:txBody>
      </p:sp>
      <p:graphicFrame>
        <p:nvGraphicFramePr>
          <p:cNvPr id="15" name="strategy chart" descr="Stacked column chart: naive reserved 2,000 units for 100 in stock (1,900 oversold); pessimistic 100; optimistic 43; atomic 100; atomic plus gate 100."/>
          <p:cNvGraphicFramePr/>
          <p:nvPr/>
        </p:nvGraphicFramePr>
        <p:xfrm>
          <a:off x="6080760" y="1371600"/>
          <a:ext cx="5577840" cy="3063240"/>
        </p:xfrm>
        <a:graphic xmlns:a="http://schemas.openxmlformats.org/drawingml/2006/main">
          <a:graphicData uri="http://schemas.openxmlformats.org/drawingml/2006/chart">
            <c:chart xmlns:c="http://schemas.openxmlformats.org/drawingml/2006/chart" r:id="rId4"/>
          </a:graphicData>
        </a:graphic>
      </p:graphicFrame>
      <p:graphicFrame>
        <p:nvGraphicFramePr>
          <p:cNvPr id="6" name="strategy table"/>
          <p:cNvGraphicFramePr>
            <a:graphicFrameLocks noGrp="1"/>
          </p:cNvGraphicFramePr>
          <p:nvPr>
            <p:extLst>
              <p:ext uri="{D42A27DB-BD31-4B8C-83A1-F6EECF244321}">
                <p14:modId xmlns:p14="http://schemas.microsoft.com/office/powerpoint/2010/main" val="1579011935"/>
              </p:ext>
            </p:extLst>
          </p:nvPr>
        </p:nvGraphicFramePr>
        <p:xfrm>
          <a:off x="6172200" y="4572000"/>
          <a:ext cx="5440680" cy="914400"/>
        </p:xfrm>
        <a:graphic>
          <a:graphicData uri="http://schemas.openxmlformats.org/drawingml/2006/table">
            <a:tbl>
              <a:tblPr/>
              <a:tblGrid>
                <a:gridCol w="1463040"/>
                <a:gridCol w="1600200"/>
                <a:gridCol w="1188720"/>
                <a:gridCol w="1188720"/>
              </a:tblGrid>
              <a:tr h="274320">
                <a:tc>
                  <a:txBody>
                    <a:bodyPr/>
                    <a:lstStyle/>
                    <a:p>
                      <a:pPr algn="l" indent="0" marL="0">
                        <a:buNone/>
                      </a:pPr>
                      <a:r>
                        <a:rPr lang="en-US" sz="1200" b="1" dirty="0">
                          <a:solidFill>
                            <a:schemeClr val="tx1"/>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tx1"/>
                          </a:solidFill>
                          <a:latin typeface="Calibri" pitchFamily="34" charset="0"/>
                          <a:ea typeface="Calibri" pitchFamily="34" charset="-122"/>
                          <a:cs typeface="Calibri" pitchFamily="34" charset="-120"/>
                        </a:rPr>
                        <a:t>Correct?</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tx1"/>
                          </a:solidFill>
                          <a:latin typeface="Calibri" pitchFamily="34" charset="0"/>
                          <a:ea typeface="Calibri" pitchFamily="34" charset="-122"/>
                          <a:cs typeface="Calibri" pitchFamily="34" charset="-120"/>
                        </a:rPr>
                        <a:t>p99</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tx1"/>
                          </a:solidFill>
                          <a:latin typeface="Calibri" pitchFamily="34" charset="0"/>
                          <a:ea typeface="Calibri" pitchFamily="34" charset="-122"/>
                          <a:cs typeface="Calibri" pitchFamily="34" charset="-120"/>
                        </a:rPr>
                        <a:t>DB calls</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r>
              <a:tr h="27432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Naive</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accent4"/>
                          </a:solidFill>
                          <a:latin typeface="Calibri" pitchFamily="34" charset="0"/>
                          <a:ea typeface="Calibri" pitchFamily="34" charset="-122"/>
                          <a:cs typeface="Calibri" pitchFamily="34" charset="-120"/>
                        </a:rPr>
                        <a:t>Oversold 1,900</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~41 ms</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4,000</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r>
              <a:tr h="27432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Pessimistic</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Yes, slow</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~4,450 ms</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2,100</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r>
              <a:tr h="27432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Optimistic</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Sold only 43</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~140 ms</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latin typeface="Calibri" pitchFamily="34" charset="0"/>
                          <a:ea typeface="Calibri" pitchFamily="34" charset="-122"/>
                          <a:cs typeface="Calibri" pitchFamily="34" charset="-120"/>
                        </a:rPr>
                        <a:t>~27,800</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r>
              <a:tr h="274320">
                <a:tc>
                  <a:txBody>
                    <a:bodyPr/>
                    <a:lstStyle/>
                    <a:p>
                      <a:pPr algn="l" indent="0" marL="0">
                        <a:buNone/>
                      </a:pPr>
                      <a:r>
                        <a:rPr lang="en-US" sz="1200" b="1" dirty="0">
                          <a:solidFill>
                            <a:schemeClr val="accent1"/>
                          </a:solidFill>
                          <a:latin typeface="Calibri" pitchFamily="34" charset="0"/>
                          <a:ea typeface="Calibri" pitchFamily="34" charset="-122"/>
                          <a:cs typeface="Calibri" pitchFamily="34" charset="-120"/>
                        </a:rPr>
                        <a:t>Atomic + gate</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latin typeface="Calibri" pitchFamily="34" charset="0"/>
                          <a:ea typeface="Calibri" pitchFamily="34" charset="-122"/>
                          <a:cs typeface="Calibri" pitchFamily="34" charset="-120"/>
                        </a:rPr>
                        <a:t>Yes, selected</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1"/>
                          </a:solidFill>
                          <a:latin typeface="Calibri" pitchFamily="34" charset="0"/>
                          <a:ea typeface="Calibri" pitchFamily="34" charset="-122"/>
                          <a:cs typeface="Calibri" pitchFamily="34" charset="-120"/>
                        </a:rPr>
                        <a:t>~3 ms</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1"/>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3152" marR="73152" marT="27432" marB="27432"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597"/>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778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Every payment ends in an order or a refund</a:t>
            </a:r>
            <a:endParaRPr lang="en-US" sz="3000" dirty="0"/>
          </a:p>
        </p:txBody>
      </p:sp>
      <p:sp>
        <p:nvSpPr>
          <p:cNvPr id="3" name="pitch timing"/>
          <p:cNvSpPr txBox="1"/>
          <p:nvPr/>
        </p:nvSpPr>
        <p:spPr>
          <a:xfrm>
            <a:off x="9445752" y="530352"/>
            <a:ext cx="2194560" cy="384048"/>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3:00 – 3:45  ·  Payment &amp; order</a:t>
            </a:r>
            <a:endParaRPr lang="en-US" sz="1200" dirty="0"/>
          </a:p>
        </p:txBody>
      </p:sp>
      <p:sp>
        <p:nvSpPr>
          <p:cNvPr id="4" name="idempotency callout"/>
          <p:cNvSpPr/>
          <p:nvPr/>
        </p:nvSpPr>
        <p:spPr>
          <a:xfrm>
            <a:off x="548640" y="1371600"/>
            <a:ext cx="11091672" cy="777240"/>
          </a:xfrm>
          <a:prstGeom prst="roundRect">
            <a:avLst>
              <a:gd name="adj" fmla="val 11765"/>
            </a:avLst>
          </a:prstGeom>
          <a:solidFill>
            <a:schemeClr val="bg2"/>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5" name="icon tile key-round"/>
          <p:cNvSpPr/>
          <p:nvPr/>
        </p:nvSpPr>
        <p:spPr>
          <a:xfrm>
            <a:off x="777240" y="1508760"/>
            <a:ext cx="502920" cy="502920"/>
          </a:xfrm>
          <a:prstGeom prst="roundRect">
            <a:avLst>
              <a:gd name="adj" fmla="val 21818"/>
            </a:avLst>
          </a:prstGeom>
          <a:solidFill>
            <a:schemeClr val="accent1"/>
          </a:solidFill>
          <a:ln/>
        </p:spPr>
      </p:sp>
      <p:pic>
        <p:nvPicPr>
          <p:cNvPr id="6" name="icon key-round" descr="key round">    </p:cNvPr>
          <p:cNvPicPr>
            <a:picLocks noChangeAspect="1"/>
          </p:cNvPicPr>
          <p:nvPr/>
        </p:nvPicPr>
        <p:blipFill>
          <a:blip r:embed="rId1"/>
          <a:stretch>
            <a:fillRect/>
          </a:stretch>
        </p:blipFill>
        <p:spPr>
          <a:xfrm>
            <a:off x="887882" y="1619402"/>
            <a:ext cx="281635" cy="281635"/>
          </a:xfrm>
          <a:prstGeom prst="rect">
            <a:avLst/>
          </a:prstGeom>
        </p:spPr>
      </p:pic>
      <p:sp>
        <p:nvSpPr>
          <p:cNvPr id="7" name="Text 4"/>
          <p:cNvSpPr txBox="1"/>
          <p:nvPr/>
        </p:nvSpPr>
        <p:spPr>
          <a:xfrm>
            <a:off x="1463040" y="1463040"/>
            <a:ext cx="9966960" cy="5943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One idempotency key per reservation, </a:t>
            </a:r>
            <a:pPr indent="0" marL="0">
              <a:buNone/>
            </a:pPr>
            <a:r>
              <a:rPr lang="en-US" sz="1500" b="1" dirty="0">
                <a:solidFill>
                  <a:schemeClr val="accent1"/>
                </a:solidFill>
                <a:latin typeface="Courier New" pitchFamily="34" charset="0"/>
                <a:ea typeface="Courier New" pitchFamily="34" charset="-122"/>
                <a:cs typeface="Courier New" pitchFamily="34" charset="-120"/>
              </a:rPr>
              <a:t>pay_{reservationId}</a:t>
            </a:r>
            <a:pPr indent="0" marL="0">
              <a:buNone/>
            </a:pPr>
            <a:r>
              <a:rPr lang="en-US" sz="1500" dirty="0">
                <a:solidFill>
                  <a:schemeClr val="tx1"/>
                </a:solidFill>
                <a:latin typeface="Calibri" pitchFamily="34" charset="0"/>
                <a:ea typeface="Calibri" pitchFamily="34" charset="-122"/>
                <a:cs typeface="Calibri" pitchFamily="34" charset="-120"/>
              </a:rPr>
              <a:t>, checked at our database and at the payment gateway. Double clicks and retries can never charge twice.</a:t>
            </a:r>
            <a:endParaRPr lang="en-US" sz="1500" dirty="0"/>
          </a:p>
        </p:txBody>
      </p:sp>
      <p:sp>
        <p:nvSpPr>
          <p:cNvPr id="8" name="scenario Payment succeeds"/>
          <p:cNvSpPr/>
          <p:nvPr/>
        </p:nvSpPr>
        <p:spPr>
          <a:xfrm>
            <a:off x="548640" y="2423160"/>
            <a:ext cx="5449824" cy="1691640"/>
          </a:xfrm>
          <a:prstGeom prst="roundRect">
            <a:avLst>
              <a:gd name="adj" fmla="val 5405"/>
            </a:avLst>
          </a:prstGeom>
          <a:solidFill>
            <a:schemeClr val="bg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9" name="icon tile circle-check"/>
          <p:cNvSpPr/>
          <p:nvPr/>
        </p:nvSpPr>
        <p:spPr>
          <a:xfrm>
            <a:off x="822960" y="2697480"/>
            <a:ext cx="502920" cy="502920"/>
          </a:xfrm>
          <a:prstGeom prst="roundRect">
            <a:avLst>
              <a:gd name="adj" fmla="val 21818"/>
            </a:avLst>
          </a:prstGeom>
          <a:solidFill>
            <a:schemeClr val="bg2"/>
          </a:solidFill>
          <a:ln/>
        </p:spPr>
      </p:sp>
      <p:pic>
        <p:nvPicPr>
          <p:cNvPr id="10" name="icon circle-check" descr="circle check">    </p:cNvPr>
          <p:cNvPicPr>
            <a:picLocks noChangeAspect="1"/>
          </p:cNvPicPr>
          <p:nvPr/>
        </p:nvPicPr>
        <p:blipFill>
          <a:blip r:embed="rId2"/>
          <a:stretch>
            <a:fillRect/>
          </a:stretch>
        </p:blipFill>
        <p:spPr>
          <a:xfrm>
            <a:off x="933602" y="2808122"/>
            <a:ext cx="281635" cy="281635"/>
          </a:xfrm>
          <a:prstGeom prst="rect">
            <a:avLst/>
          </a:prstGeom>
        </p:spPr>
      </p:pic>
      <p:sp>
        <p:nvSpPr>
          <p:cNvPr id="11" name="Text 7"/>
          <p:cNvSpPr txBox="1"/>
          <p:nvPr/>
        </p:nvSpPr>
        <p:spPr>
          <a:xfrm>
            <a:off x="1508760" y="2697480"/>
            <a:ext cx="420624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Payment succeeds</a:t>
            </a:r>
            <a:endParaRPr lang="en-US" sz="1600" dirty="0"/>
          </a:p>
        </p:txBody>
      </p:sp>
      <p:sp>
        <p:nvSpPr>
          <p:cNvPr id="12" name="Text 8"/>
          <p:cNvSpPr txBox="1"/>
          <p:nvPr/>
        </p:nvSpPr>
        <p:spPr>
          <a:xfrm>
            <a:off x="1508760" y="3063240"/>
            <a:ext cx="4206240" cy="640080"/>
          </a:xfrm>
          <a:prstGeom prst="rect">
            <a:avLst/>
          </a:prstGeom>
          <a:noFill/>
          <a:ln/>
        </p:spPr>
        <p:txBody>
          <a:bodyPr wrap="square" lIns="0" tIns="0" rIns="0" bIns="0" rtlCol="0" anchor="t"/>
          <a:lstStyle/>
          <a:p>
            <a:pPr indent="0" marL="0">
              <a:buNone/>
            </a:pPr>
            <a:r>
              <a:rPr lang="en-US" sz="1300" dirty="0">
                <a:solidFill>
                  <a:schemeClr val="tx1">
                    <a:alpha val="60000"/>
                  </a:schemeClr>
                </a:solidFill>
                <a:latin typeface="Calibri" pitchFamily="34" charset="0"/>
                <a:ea typeface="Calibri" pitchFamily="34" charset="-122"/>
                <a:cs typeface="Calibri" pitchFamily="34" charset="-120"/>
              </a:rPr>
              <a:t>Payment row and PaymentSucceeded are committed in one transaction (outbox), then the order is confirmed.</a:t>
            </a:r>
            <a:endParaRPr lang="en-US" sz="1300" dirty="0"/>
          </a:p>
        </p:txBody>
      </p:sp>
      <p:sp>
        <p:nvSpPr>
          <p:cNvPr id="13" name="Text 9"/>
          <p:cNvSpPr txBox="1"/>
          <p:nvPr/>
        </p:nvSpPr>
        <p:spPr>
          <a:xfrm>
            <a:off x="1508760" y="3721608"/>
            <a:ext cx="4206240" cy="274320"/>
          </a:xfrm>
          <a:prstGeom prst="rect">
            <a:avLst/>
          </a:prstGeom>
          <a:noFill/>
          <a:ln/>
        </p:spPr>
        <p:txBody>
          <a:bodyPr wrap="square" lIns="0" tIns="0" rIns="0" bIns="0" rtlCol="0" anchor="t"/>
          <a:lstStyle/>
          <a:p>
            <a:pPr indent="0" marL="0">
              <a:buNone/>
            </a:pPr>
            <a:r>
              <a:rPr lang="en-US" sz="1300" b="1" dirty="0">
                <a:solidFill>
                  <a:schemeClr val="accent5"/>
                </a:solidFill>
                <a:latin typeface="Calibri" pitchFamily="34" charset="0"/>
                <a:ea typeface="Calibri" pitchFamily="34" charset="-122"/>
                <a:cs typeface="Calibri" pitchFamily="34" charset="-120"/>
              </a:rPr>
              <a:t>Order CONFIRMED</a:t>
            </a:r>
            <a:endParaRPr lang="en-US" sz="1300" dirty="0"/>
          </a:p>
        </p:txBody>
      </p:sp>
      <p:sp>
        <p:nvSpPr>
          <p:cNvPr id="14" name="scenario Payment declined"/>
          <p:cNvSpPr/>
          <p:nvPr/>
        </p:nvSpPr>
        <p:spPr>
          <a:xfrm>
            <a:off x="6190488" y="2423160"/>
            <a:ext cx="5449824" cy="1691640"/>
          </a:xfrm>
          <a:prstGeom prst="roundRect">
            <a:avLst>
              <a:gd name="adj" fmla="val 5405"/>
            </a:avLst>
          </a:prstGeom>
          <a:solidFill>
            <a:schemeClr val="bg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15" name="icon tile circle-x"/>
          <p:cNvSpPr/>
          <p:nvPr/>
        </p:nvSpPr>
        <p:spPr>
          <a:xfrm>
            <a:off x="6464808" y="2697480"/>
            <a:ext cx="502920" cy="502920"/>
          </a:xfrm>
          <a:prstGeom prst="roundRect">
            <a:avLst>
              <a:gd name="adj" fmla="val 21818"/>
            </a:avLst>
          </a:prstGeom>
          <a:solidFill>
            <a:schemeClr val="bg2"/>
          </a:solidFill>
          <a:ln/>
        </p:spPr>
      </p:sp>
      <p:pic>
        <p:nvPicPr>
          <p:cNvPr id="16" name="icon circle-x" descr="circle x">    </p:cNvPr>
          <p:cNvPicPr>
            <a:picLocks noChangeAspect="1"/>
          </p:cNvPicPr>
          <p:nvPr/>
        </p:nvPicPr>
        <p:blipFill>
          <a:blip r:embed="rId3"/>
          <a:stretch>
            <a:fillRect/>
          </a:stretch>
        </p:blipFill>
        <p:spPr>
          <a:xfrm>
            <a:off x="6575450" y="2808122"/>
            <a:ext cx="281635" cy="281635"/>
          </a:xfrm>
          <a:prstGeom prst="rect">
            <a:avLst/>
          </a:prstGeom>
        </p:spPr>
      </p:pic>
      <p:sp>
        <p:nvSpPr>
          <p:cNvPr id="17" name="Text 12"/>
          <p:cNvSpPr txBox="1"/>
          <p:nvPr/>
        </p:nvSpPr>
        <p:spPr>
          <a:xfrm>
            <a:off x="7150608" y="2697480"/>
            <a:ext cx="420624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Payment declined</a:t>
            </a:r>
            <a:endParaRPr lang="en-US" sz="1600" dirty="0"/>
          </a:p>
        </p:txBody>
      </p:sp>
      <p:sp>
        <p:nvSpPr>
          <p:cNvPr id="18" name="Text 13"/>
          <p:cNvSpPr txBox="1"/>
          <p:nvPr/>
        </p:nvSpPr>
        <p:spPr>
          <a:xfrm>
            <a:off x="7150608" y="3063240"/>
            <a:ext cx="4206240" cy="640080"/>
          </a:xfrm>
          <a:prstGeom prst="rect">
            <a:avLst/>
          </a:prstGeom>
          <a:noFill/>
          <a:ln/>
        </p:spPr>
        <p:txBody>
          <a:bodyPr wrap="square" lIns="0" tIns="0" rIns="0" bIns="0" rtlCol="0" anchor="t"/>
          <a:lstStyle/>
          <a:p>
            <a:pPr indent="0" marL="0">
              <a:buNone/>
            </a:pPr>
            <a:r>
              <a:rPr lang="en-US" sz="1300" dirty="0">
                <a:solidFill>
                  <a:schemeClr val="tx1">
                    <a:alpha val="60000"/>
                  </a:schemeClr>
                </a:solidFill>
                <a:latin typeface="Calibri" pitchFamily="34" charset="0"/>
                <a:ea typeface="Calibri" pitchFamily="34" charset="-122"/>
                <a:cs typeface="Calibri" pitchFamily="34" charset="-120"/>
              </a:rPr>
              <a:t>PaymentFailed releases the unit straight back to stock, so the next customer can buy it.</a:t>
            </a:r>
            <a:endParaRPr lang="en-US" sz="1300" dirty="0"/>
          </a:p>
        </p:txBody>
      </p:sp>
      <p:sp>
        <p:nvSpPr>
          <p:cNvPr id="19" name="Text 14"/>
          <p:cNvSpPr txBox="1"/>
          <p:nvPr/>
        </p:nvSpPr>
        <p:spPr>
          <a:xfrm>
            <a:off x="7150608" y="3721608"/>
            <a:ext cx="4206240" cy="274320"/>
          </a:xfrm>
          <a:prstGeom prst="rect">
            <a:avLst/>
          </a:prstGeom>
          <a:noFill/>
          <a:ln/>
        </p:spPr>
        <p:txBody>
          <a:bodyPr wrap="square" lIns="0" tIns="0" rIns="0" bIns="0" rtlCol="0" anchor="t"/>
          <a:lstStyle/>
          <a:p>
            <a:pPr indent="0" marL="0">
              <a:buNone/>
            </a:pPr>
            <a:r>
              <a:rPr lang="en-US" sz="1300" b="1" dirty="0">
                <a:solidFill>
                  <a:schemeClr val="accent4"/>
                </a:solidFill>
                <a:latin typeface="Calibri" pitchFamily="34" charset="0"/>
                <a:ea typeface="Calibri" pitchFamily="34" charset="-122"/>
                <a:cs typeface="Calibri" pitchFamily="34" charset="-120"/>
              </a:rPr>
              <a:t>Unit RELEASED</a:t>
            </a:r>
            <a:endParaRPr lang="en-US" sz="1300" dirty="0"/>
          </a:p>
        </p:txBody>
      </p:sp>
      <p:sp>
        <p:nvSpPr>
          <p:cNvPr id="20" name="scenario Gateway times out"/>
          <p:cNvSpPr/>
          <p:nvPr/>
        </p:nvSpPr>
        <p:spPr>
          <a:xfrm>
            <a:off x="548640" y="4297680"/>
            <a:ext cx="5449824" cy="1691640"/>
          </a:xfrm>
          <a:prstGeom prst="roundRect">
            <a:avLst>
              <a:gd name="adj" fmla="val 5405"/>
            </a:avLst>
          </a:prstGeom>
          <a:solidFill>
            <a:schemeClr val="bg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21" name="icon tile hourglass"/>
          <p:cNvSpPr/>
          <p:nvPr/>
        </p:nvSpPr>
        <p:spPr>
          <a:xfrm>
            <a:off x="822960" y="4572000"/>
            <a:ext cx="502920" cy="502920"/>
          </a:xfrm>
          <a:prstGeom prst="roundRect">
            <a:avLst>
              <a:gd name="adj" fmla="val 21818"/>
            </a:avLst>
          </a:prstGeom>
          <a:solidFill>
            <a:schemeClr val="bg2"/>
          </a:solidFill>
          <a:ln/>
        </p:spPr>
      </p:sp>
      <p:pic>
        <p:nvPicPr>
          <p:cNvPr id="22" name="icon hourglass" descr="hourglass">    </p:cNvPr>
          <p:cNvPicPr>
            <a:picLocks noChangeAspect="1"/>
          </p:cNvPicPr>
          <p:nvPr/>
        </p:nvPicPr>
        <p:blipFill>
          <a:blip r:embed="rId4"/>
          <a:stretch>
            <a:fillRect/>
          </a:stretch>
        </p:blipFill>
        <p:spPr>
          <a:xfrm>
            <a:off x="933602" y="4682642"/>
            <a:ext cx="281635" cy="281635"/>
          </a:xfrm>
          <a:prstGeom prst="rect">
            <a:avLst/>
          </a:prstGeom>
        </p:spPr>
      </p:pic>
      <p:sp>
        <p:nvSpPr>
          <p:cNvPr id="23" name="Text 17"/>
          <p:cNvSpPr txBox="1"/>
          <p:nvPr/>
        </p:nvSpPr>
        <p:spPr>
          <a:xfrm>
            <a:off x="1508760" y="4572000"/>
            <a:ext cx="420624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Gateway times out</a:t>
            </a:r>
            <a:endParaRPr lang="en-US" sz="1600" dirty="0"/>
          </a:p>
        </p:txBody>
      </p:sp>
      <p:sp>
        <p:nvSpPr>
          <p:cNvPr id="24" name="Text 18"/>
          <p:cNvSpPr txBox="1"/>
          <p:nvPr/>
        </p:nvSpPr>
        <p:spPr>
          <a:xfrm>
            <a:off x="1508760" y="4937760"/>
            <a:ext cx="4206240" cy="640080"/>
          </a:xfrm>
          <a:prstGeom prst="rect">
            <a:avLst/>
          </a:prstGeom>
          <a:noFill/>
          <a:ln/>
        </p:spPr>
        <p:txBody>
          <a:bodyPr wrap="square" lIns="0" tIns="0" rIns="0" bIns="0" rtlCol="0" anchor="t"/>
          <a:lstStyle/>
          <a:p>
            <a:pPr indent="0" marL="0">
              <a:buNone/>
            </a:pPr>
            <a:r>
              <a:rPr lang="en-US" sz="1300" dirty="0">
                <a:solidFill>
                  <a:schemeClr val="tx1">
                    <a:alpha val="60000"/>
                  </a:schemeClr>
                </a:solidFill>
                <a:latin typeface="Calibri" pitchFamily="34" charset="0"/>
                <a:ea typeface="Calibri" pitchFamily="34" charset="-122"/>
                <a:cs typeface="Calibri" pitchFamily="34" charset="-120"/>
              </a:rPr>
              <a:t>Status is UNKNOWN, never guessed. The reconciler asks the gateway by key and records the real result.</a:t>
            </a:r>
            <a:endParaRPr lang="en-US" sz="1300" dirty="0"/>
          </a:p>
        </p:txBody>
      </p:sp>
      <p:sp>
        <p:nvSpPr>
          <p:cNvPr id="25" name="Text 19"/>
          <p:cNvSpPr txBox="1"/>
          <p:nvPr/>
        </p:nvSpPr>
        <p:spPr>
          <a:xfrm>
            <a:off x="1508760" y="5596128"/>
            <a:ext cx="4206240" cy="27432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No second charge</a:t>
            </a:r>
            <a:endParaRPr lang="en-US" sz="1300" dirty="0"/>
          </a:p>
        </p:txBody>
      </p:sp>
      <p:sp>
        <p:nvSpPr>
          <p:cNvPr id="26" name="scenario Order Service down"/>
          <p:cNvSpPr/>
          <p:nvPr/>
        </p:nvSpPr>
        <p:spPr>
          <a:xfrm>
            <a:off x="6190488" y="4297680"/>
            <a:ext cx="5449824" cy="1691640"/>
          </a:xfrm>
          <a:prstGeom prst="roundRect">
            <a:avLst>
              <a:gd name="adj" fmla="val 5405"/>
            </a:avLst>
          </a:prstGeom>
          <a:solidFill>
            <a:schemeClr val="bg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27" name="icon tile unplug"/>
          <p:cNvSpPr/>
          <p:nvPr/>
        </p:nvSpPr>
        <p:spPr>
          <a:xfrm>
            <a:off x="6464808" y="4572000"/>
            <a:ext cx="502920" cy="502920"/>
          </a:xfrm>
          <a:prstGeom prst="roundRect">
            <a:avLst>
              <a:gd name="adj" fmla="val 21818"/>
            </a:avLst>
          </a:prstGeom>
          <a:solidFill>
            <a:schemeClr val="bg2"/>
          </a:solidFill>
          <a:ln/>
        </p:spPr>
      </p:sp>
      <p:pic>
        <p:nvPicPr>
          <p:cNvPr id="28" name="icon unplug" descr="unplug">    </p:cNvPr>
          <p:cNvPicPr>
            <a:picLocks noChangeAspect="1"/>
          </p:cNvPicPr>
          <p:nvPr/>
        </p:nvPicPr>
        <p:blipFill>
          <a:blip r:embed="rId5"/>
          <a:stretch>
            <a:fillRect/>
          </a:stretch>
        </p:blipFill>
        <p:spPr>
          <a:xfrm>
            <a:off x="6575450" y="4682642"/>
            <a:ext cx="281635" cy="281635"/>
          </a:xfrm>
          <a:prstGeom prst="rect">
            <a:avLst/>
          </a:prstGeom>
        </p:spPr>
      </p:pic>
      <p:sp>
        <p:nvSpPr>
          <p:cNvPr id="29" name="Text 22"/>
          <p:cNvSpPr txBox="1"/>
          <p:nvPr/>
        </p:nvSpPr>
        <p:spPr>
          <a:xfrm>
            <a:off x="7150608" y="4572000"/>
            <a:ext cx="420624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Order Service down</a:t>
            </a:r>
            <a:endParaRPr lang="en-US" sz="1600" dirty="0"/>
          </a:p>
        </p:txBody>
      </p:sp>
      <p:sp>
        <p:nvSpPr>
          <p:cNvPr id="30" name="Text 23"/>
          <p:cNvSpPr txBox="1"/>
          <p:nvPr/>
        </p:nvSpPr>
        <p:spPr>
          <a:xfrm>
            <a:off x="7150608" y="4937760"/>
            <a:ext cx="4206240" cy="640080"/>
          </a:xfrm>
          <a:prstGeom prst="rect">
            <a:avLst/>
          </a:prstGeom>
          <a:noFill/>
          <a:ln/>
        </p:spPr>
        <p:txBody>
          <a:bodyPr wrap="square" lIns="0" tIns="0" rIns="0" bIns="0" rtlCol="0" anchor="t"/>
          <a:lstStyle/>
          <a:p>
            <a:pPr indent="0" marL="0">
              <a:buNone/>
            </a:pPr>
            <a:r>
              <a:rPr lang="en-US" sz="1300" dirty="0">
                <a:solidFill>
                  <a:schemeClr val="tx1">
                    <a:alpha val="60000"/>
                  </a:schemeClr>
                </a:solidFill>
                <a:latin typeface="Calibri" pitchFamily="34" charset="0"/>
                <a:ea typeface="Calibri" pitchFamily="34" charset="-122"/>
                <a:cs typeface="Calibri" pitchFamily="34" charset="-120"/>
              </a:rPr>
              <a:t>The event waits in Kafka and the consumer retries. When the service recovers, the order confirms.</a:t>
            </a:r>
            <a:endParaRPr lang="en-US" sz="1300" dirty="0"/>
          </a:p>
        </p:txBody>
      </p:sp>
      <p:sp>
        <p:nvSpPr>
          <p:cNvPr id="31" name="Text 24"/>
          <p:cNvSpPr txBox="1"/>
          <p:nvPr/>
        </p:nvSpPr>
        <p:spPr>
          <a:xfrm>
            <a:off x="7150608" y="5596128"/>
            <a:ext cx="4206240" cy="27432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100 / 100 after a 30 s outage</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597"/>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778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Patterns that make change cheap</a:t>
            </a:r>
            <a:endParaRPr lang="en-US" sz="3000" dirty="0"/>
          </a:p>
        </p:txBody>
      </p:sp>
      <p:sp>
        <p:nvSpPr>
          <p:cNvPr id="3" name="pitch timing"/>
          <p:cNvSpPr txBox="1"/>
          <p:nvPr/>
        </p:nvSpPr>
        <p:spPr>
          <a:xfrm>
            <a:off x="9445752" y="530352"/>
            <a:ext cx="2194560" cy="384048"/>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3:45 – 4:30  ·  LLD &amp; SOLID</a:t>
            </a:r>
            <a:endParaRPr lang="en-US" sz="1200" dirty="0"/>
          </a:p>
        </p:txBody>
      </p:sp>
      <p:sp>
        <p:nvSpPr>
          <p:cNvPr id="4" name="state diagram card"/>
          <p:cNvSpPr/>
          <p:nvPr/>
        </p:nvSpPr>
        <p:spPr>
          <a:xfrm>
            <a:off x="548640" y="1371600"/>
            <a:ext cx="4937760" cy="4709160"/>
          </a:xfrm>
          <a:prstGeom prst="roundRect">
            <a:avLst>
              <a:gd name="adj" fmla="val 1942"/>
            </a:avLst>
          </a:prstGeom>
          <a:solidFill>
            <a:schemeClr val="bg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5" name="Text 3"/>
          <p:cNvSpPr txBox="1"/>
          <p:nvPr/>
        </p:nvSpPr>
        <p:spPr>
          <a:xfrm>
            <a:off x="777240" y="1536192"/>
            <a:ext cx="4480560" cy="27432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Reservation lifecycle (State pattern)</a:t>
            </a:r>
            <a:endParaRPr lang="en-US" sz="1300" dirty="0"/>
          </a:p>
        </p:txBody>
      </p:sp>
      <p:pic>
        <p:nvPicPr>
          <p:cNvPr id="6" name="reservation state diagram" descr="State diagram: AVAILABLE to RESERVED to PAYMENT_PENDING to CONFIRMED to SOLD; failure paths to RELEASED on payment failure or timeout.">    </p:cNvPr>
          <p:cNvPicPr>
            <a:picLocks noChangeAspect="1"/>
          </p:cNvPicPr>
          <p:nvPr/>
        </p:nvPicPr>
        <p:blipFill>
          <a:blip r:embed="rId1"/>
          <a:stretch>
            <a:fillRect/>
          </a:stretch>
        </p:blipFill>
        <p:spPr>
          <a:xfrm>
            <a:off x="814454" y="1965960"/>
            <a:ext cx="4406132" cy="3840480"/>
          </a:xfrm>
          <a:prstGeom prst="rect">
            <a:avLst/>
          </a:prstGeom>
        </p:spPr>
      </p:pic>
      <p:sp>
        <p:nvSpPr>
          <p:cNvPr id="7" name="icon tile split"/>
          <p:cNvSpPr/>
          <p:nvPr/>
        </p:nvSpPr>
        <p:spPr>
          <a:xfrm>
            <a:off x="5806440" y="1371600"/>
            <a:ext cx="457200" cy="457200"/>
          </a:xfrm>
          <a:prstGeom prst="roundRect">
            <a:avLst>
              <a:gd name="adj" fmla="val 24000"/>
            </a:avLst>
          </a:prstGeom>
          <a:solidFill>
            <a:schemeClr val="bg2"/>
          </a:solidFill>
          <a:ln/>
        </p:spPr>
      </p:sp>
      <p:pic>
        <p:nvPicPr>
          <p:cNvPr id="8" name="icon split" descr="split">    </p:cNvPr>
          <p:cNvPicPr>
            <a:picLocks noChangeAspect="1"/>
          </p:cNvPicPr>
          <p:nvPr/>
        </p:nvPicPr>
        <p:blipFill>
          <a:blip r:embed="rId2"/>
          <a:stretch>
            <a:fillRect/>
          </a:stretch>
        </p:blipFill>
        <p:spPr>
          <a:xfrm>
            <a:off x="5907024" y="1472184"/>
            <a:ext cx="256032" cy="256032"/>
          </a:xfrm>
          <a:prstGeom prst="rect">
            <a:avLst/>
          </a:prstGeom>
        </p:spPr>
      </p:pic>
      <p:sp>
        <p:nvSpPr>
          <p:cNvPr id="9" name="Text 5"/>
          <p:cNvSpPr txBox="1"/>
          <p:nvPr/>
        </p:nvSpPr>
        <p:spPr>
          <a:xfrm>
            <a:off x="6400800" y="1353312"/>
            <a:ext cx="224028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Strategy</a:t>
            </a:r>
            <a:endParaRPr lang="en-US" sz="1400" dirty="0"/>
          </a:p>
        </p:txBody>
      </p:sp>
      <p:sp>
        <p:nvSpPr>
          <p:cNvPr id="10" name="Text 6"/>
          <p:cNvSpPr txBox="1"/>
          <p:nvPr/>
        </p:nvSpPr>
        <p:spPr>
          <a:xfrm>
            <a:off x="6400800" y="1618488"/>
            <a:ext cx="2240280" cy="274320"/>
          </a:xfrm>
          <a:prstGeom prst="rect">
            <a:avLst/>
          </a:prstGeom>
          <a:noFill/>
          <a:ln/>
        </p:spPr>
        <p:txBody>
          <a:bodyPr wrap="square" lIns="0" tIns="0" rIns="0" bIns="0" rtlCol="0" anchor="t"/>
          <a:lstStyle/>
          <a:p>
            <a:pPr indent="0" marL="0">
              <a:buNone/>
            </a:pPr>
            <a:r>
              <a:rPr lang="en-US" sz="1200" dirty="0">
                <a:solidFill>
                  <a:schemeClr val="tx1">
                    <a:alpha val="60000"/>
                  </a:schemeClr>
                </a:solidFill>
                <a:latin typeface="Calibri" pitchFamily="34" charset="0"/>
                <a:ea typeface="Calibri" pitchFamily="34" charset="-122"/>
                <a:cs typeface="Calibri" pitchFamily="34" charset="-120"/>
              </a:rPr>
              <a:t>Concurrency control is swappable</a:t>
            </a:r>
            <a:endParaRPr lang="en-US" sz="1200" dirty="0"/>
          </a:p>
        </p:txBody>
      </p:sp>
      <p:sp>
        <p:nvSpPr>
          <p:cNvPr id="11" name="icon tile factory"/>
          <p:cNvSpPr/>
          <p:nvPr/>
        </p:nvSpPr>
        <p:spPr>
          <a:xfrm>
            <a:off x="8759952" y="1371600"/>
            <a:ext cx="457200" cy="457200"/>
          </a:xfrm>
          <a:prstGeom prst="roundRect">
            <a:avLst>
              <a:gd name="adj" fmla="val 24000"/>
            </a:avLst>
          </a:prstGeom>
          <a:solidFill>
            <a:schemeClr val="bg2"/>
          </a:solidFill>
          <a:ln/>
        </p:spPr>
      </p:sp>
      <p:pic>
        <p:nvPicPr>
          <p:cNvPr id="12" name="icon factory" descr="factory">    </p:cNvPr>
          <p:cNvPicPr>
            <a:picLocks noChangeAspect="1"/>
          </p:cNvPicPr>
          <p:nvPr/>
        </p:nvPicPr>
        <p:blipFill>
          <a:blip r:embed="rId3"/>
          <a:stretch>
            <a:fillRect/>
          </a:stretch>
        </p:blipFill>
        <p:spPr>
          <a:xfrm>
            <a:off x="8860536" y="1472184"/>
            <a:ext cx="256032" cy="256032"/>
          </a:xfrm>
          <a:prstGeom prst="rect">
            <a:avLst/>
          </a:prstGeom>
        </p:spPr>
      </p:pic>
      <p:sp>
        <p:nvSpPr>
          <p:cNvPr id="13" name="Text 8"/>
          <p:cNvSpPr txBox="1"/>
          <p:nvPr/>
        </p:nvSpPr>
        <p:spPr>
          <a:xfrm>
            <a:off x="9354312" y="1353312"/>
            <a:ext cx="224028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Factory</a:t>
            </a:r>
            <a:endParaRPr lang="en-US" sz="1400" dirty="0"/>
          </a:p>
        </p:txBody>
      </p:sp>
      <p:sp>
        <p:nvSpPr>
          <p:cNvPr id="14" name="Text 9"/>
          <p:cNvSpPr txBox="1"/>
          <p:nvPr/>
        </p:nvSpPr>
        <p:spPr>
          <a:xfrm>
            <a:off x="9354312" y="1618488"/>
            <a:ext cx="2240280" cy="274320"/>
          </a:xfrm>
          <a:prstGeom prst="rect">
            <a:avLst/>
          </a:prstGeom>
          <a:noFill/>
          <a:ln/>
        </p:spPr>
        <p:txBody>
          <a:bodyPr wrap="square" lIns="0" tIns="0" rIns="0" bIns="0" rtlCol="0" anchor="t"/>
          <a:lstStyle/>
          <a:p>
            <a:pPr indent="0" marL="0">
              <a:buNone/>
            </a:pPr>
            <a:r>
              <a:rPr lang="en-US" sz="1200" dirty="0">
                <a:solidFill>
                  <a:schemeClr val="tx1">
                    <a:alpha val="60000"/>
                  </a:schemeClr>
                </a:solidFill>
                <a:latin typeface="Calibri" pitchFamily="34" charset="0"/>
                <a:ea typeface="Calibri" pitchFamily="34" charset="-122"/>
                <a:cs typeface="Calibri" pitchFamily="34" charset="-120"/>
              </a:rPr>
              <a:t>Picks the strategy and the PSP</a:t>
            </a:r>
            <a:endParaRPr lang="en-US" sz="1200" dirty="0"/>
          </a:p>
        </p:txBody>
      </p:sp>
      <p:sp>
        <p:nvSpPr>
          <p:cNvPr id="15" name="icon tile git-fork"/>
          <p:cNvSpPr/>
          <p:nvPr/>
        </p:nvSpPr>
        <p:spPr>
          <a:xfrm>
            <a:off x="5806440" y="2212848"/>
            <a:ext cx="457200" cy="457200"/>
          </a:xfrm>
          <a:prstGeom prst="roundRect">
            <a:avLst>
              <a:gd name="adj" fmla="val 24000"/>
            </a:avLst>
          </a:prstGeom>
          <a:solidFill>
            <a:schemeClr val="bg2"/>
          </a:solidFill>
          <a:ln/>
        </p:spPr>
      </p:sp>
      <p:pic>
        <p:nvPicPr>
          <p:cNvPr id="16" name="icon git-fork" descr="git fork">    </p:cNvPr>
          <p:cNvPicPr>
            <a:picLocks noChangeAspect="1"/>
          </p:cNvPicPr>
          <p:nvPr/>
        </p:nvPicPr>
        <p:blipFill>
          <a:blip r:embed="rId4"/>
          <a:stretch>
            <a:fillRect/>
          </a:stretch>
        </p:blipFill>
        <p:spPr>
          <a:xfrm>
            <a:off x="5907024" y="2313432"/>
            <a:ext cx="256032" cy="256032"/>
          </a:xfrm>
          <a:prstGeom prst="rect">
            <a:avLst/>
          </a:prstGeom>
        </p:spPr>
      </p:pic>
      <p:sp>
        <p:nvSpPr>
          <p:cNvPr id="17" name="Text 11"/>
          <p:cNvSpPr txBox="1"/>
          <p:nvPr/>
        </p:nvSpPr>
        <p:spPr>
          <a:xfrm>
            <a:off x="6400800" y="2194560"/>
            <a:ext cx="224028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State</a:t>
            </a:r>
            <a:endParaRPr lang="en-US" sz="1400" dirty="0"/>
          </a:p>
        </p:txBody>
      </p:sp>
      <p:sp>
        <p:nvSpPr>
          <p:cNvPr id="18" name="Text 12"/>
          <p:cNvSpPr txBox="1"/>
          <p:nvPr/>
        </p:nvSpPr>
        <p:spPr>
          <a:xfrm>
            <a:off x="6400800" y="2459736"/>
            <a:ext cx="2240280" cy="274320"/>
          </a:xfrm>
          <a:prstGeom prst="rect">
            <a:avLst/>
          </a:prstGeom>
          <a:noFill/>
          <a:ln/>
        </p:spPr>
        <p:txBody>
          <a:bodyPr wrap="square" lIns="0" tIns="0" rIns="0" bIns="0" rtlCol="0" anchor="t"/>
          <a:lstStyle/>
          <a:p>
            <a:pPr indent="0" marL="0">
              <a:buNone/>
            </a:pPr>
            <a:r>
              <a:rPr lang="en-US" sz="1200" dirty="0">
                <a:solidFill>
                  <a:schemeClr val="tx1">
                    <a:alpha val="60000"/>
                  </a:schemeClr>
                </a:solidFill>
                <a:latin typeface="Calibri" pitchFamily="34" charset="0"/>
                <a:ea typeface="Calibri" pitchFamily="34" charset="-122"/>
                <a:cs typeface="Calibri" pitchFamily="34" charset="-120"/>
              </a:rPr>
              <a:t>Only legal lifecycle moves</a:t>
            </a:r>
            <a:endParaRPr lang="en-US" sz="1200" dirty="0"/>
          </a:p>
        </p:txBody>
      </p:sp>
      <p:sp>
        <p:nvSpPr>
          <p:cNvPr id="19" name="icon tile database"/>
          <p:cNvSpPr/>
          <p:nvPr/>
        </p:nvSpPr>
        <p:spPr>
          <a:xfrm>
            <a:off x="8759952" y="2212848"/>
            <a:ext cx="457200" cy="457200"/>
          </a:xfrm>
          <a:prstGeom prst="roundRect">
            <a:avLst>
              <a:gd name="adj" fmla="val 24000"/>
            </a:avLst>
          </a:prstGeom>
          <a:solidFill>
            <a:schemeClr val="bg2"/>
          </a:solidFill>
          <a:ln/>
        </p:spPr>
      </p:sp>
      <p:pic>
        <p:nvPicPr>
          <p:cNvPr id="20" name="icon database" descr="database">    </p:cNvPr>
          <p:cNvPicPr>
            <a:picLocks noChangeAspect="1"/>
          </p:cNvPicPr>
          <p:nvPr/>
        </p:nvPicPr>
        <p:blipFill>
          <a:blip r:embed="rId5"/>
          <a:stretch>
            <a:fillRect/>
          </a:stretch>
        </p:blipFill>
        <p:spPr>
          <a:xfrm>
            <a:off x="8860536" y="2313432"/>
            <a:ext cx="256032" cy="256032"/>
          </a:xfrm>
          <a:prstGeom prst="rect">
            <a:avLst/>
          </a:prstGeom>
        </p:spPr>
      </p:pic>
      <p:sp>
        <p:nvSpPr>
          <p:cNvPr id="21" name="Text 14"/>
          <p:cNvSpPr txBox="1"/>
          <p:nvPr/>
        </p:nvSpPr>
        <p:spPr>
          <a:xfrm>
            <a:off x="9354312" y="2194560"/>
            <a:ext cx="224028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Repository</a:t>
            </a:r>
            <a:endParaRPr lang="en-US" sz="1400" dirty="0"/>
          </a:p>
        </p:txBody>
      </p:sp>
      <p:sp>
        <p:nvSpPr>
          <p:cNvPr id="22" name="Text 15"/>
          <p:cNvSpPr txBox="1"/>
          <p:nvPr/>
        </p:nvSpPr>
        <p:spPr>
          <a:xfrm>
            <a:off x="9354312" y="2459736"/>
            <a:ext cx="2240280" cy="274320"/>
          </a:xfrm>
          <a:prstGeom prst="rect">
            <a:avLst/>
          </a:prstGeom>
          <a:noFill/>
          <a:ln/>
        </p:spPr>
        <p:txBody>
          <a:bodyPr wrap="square" lIns="0" tIns="0" rIns="0" bIns="0" rtlCol="0" anchor="t"/>
          <a:lstStyle/>
          <a:p>
            <a:pPr indent="0" marL="0">
              <a:buNone/>
            </a:pPr>
            <a:r>
              <a:rPr lang="en-US" sz="1200" dirty="0">
                <a:solidFill>
                  <a:schemeClr val="tx1">
                    <a:alpha val="60000"/>
                  </a:schemeClr>
                </a:solidFill>
                <a:latin typeface="Calibri" pitchFamily="34" charset="0"/>
                <a:ea typeface="Calibri" pitchFamily="34" charset="-122"/>
                <a:cs typeface="Calibri" pitchFamily="34" charset="-120"/>
              </a:rPr>
              <a:t>All SQL behind one class</a:t>
            </a:r>
            <a:endParaRPr lang="en-US" sz="1200" dirty="0"/>
          </a:p>
        </p:txBody>
      </p:sp>
      <p:sp>
        <p:nvSpPr>
          <p:cNvPr id="23" name="icon tile shopping-cart"/>
          <p:cNvSpPr/>
          <p:nvPr/>
        </p:nvSpPr>
        <p:spPr>
          <a:xfrm>
            <a:off x="5806440" y="3054096"/>
            <a:ext cx="457200" cy="457200"/>
          </a:xfrm>
          <a:prstGeom prst="roundRect">
            <a:avLst>
              <a:gd name="adj" fmla="val 24000"/>
            </a:avLst>
          </a:prstGeom>
          <a:solidFill>
            <a:schemeClr val="bg2"/>
          </a:solidFill>
          <a:ln/>
        </p:spPr>
      </p:sp>
      <p:pic>
        <p:nvPicPr>
          <p:cNvPr id="24" name="icon shopping-cart" descr="shopping cart">    </p:cNvPr>
          <p:cNvPicPr>
            <a:picLocks noChangeAspect="1"/>
          </p:cNvPicPr>
          <p:nvPr/>
        </p:nvPicPr>
        <p:blipFill>
          <a:blip r:embed="rId6"/>
          <a:stretch>
            <a:fillRect/>
          </a:stretch>
        </p:blipFill>
        <p:spPr>
          <a:xfrm>
            <a:off x="5907024" y="3154680"/>
            <a:ext cx="256032" cy="256032"/>
          </a:xfrm>
          <a:prstGeom prst="rect">
            <a:avLst/>
          </a:prstGeom>
        </p:spPr>
      </p:pic>
      <p:sp>
        <p:nvSpPr>
          <p:cNvPr id="25" name="Text 17"/>
          <p:cNvSpPr txBox="1"/>
          <p:nvPr/>
        </p:nvSpPr>
        <p:spPr>
          <a:xfrm>
            <a:off x="6400800" y="3035808"/>
            <a:ext cx="224028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Facade</a:t>
            </a:r>
            <a:endParaRPr lang="en-US" sz="1400" dirty="0"/>
          </a:p>
        </p:txBody>
      </p:sp>
      <p:sp>
        <p:nvSpPr>
          <p:cNvPr id="26" name="Text 18"/>
          <p:cNvSpPr txBox="1"/>
          <p:nvPr/>
        </p:nvSpPr>
        <p:spPr>
          <a:xfrm>
            <a:off x="6400800" y="3300984"/>
            <a:ext cx="2240280" cy="274320"/>
          </a:xfrm>
          <a:prstGeom prst="rect">
            <a:avLst/>
          </a:prstGeom>
          <a:noFill/>
          <a:ln/>
        </p:spPr>
        <p:txBody>
          <a:bodyPr wrap="square" lIns="0" tIns="0" rIns="0" bIns="0" rtlCol="0" anchor="t"/>
          <a:lstStyle/>
          <a:p>
            <a:pPr indent="0" marL="0">
              <a:buNone/>
            </a:pPr>
            <a:r>
              <a:rPr lang="en-US" sz="1200" dirty="0">
                <a:solidFill>
                  <a:schemeClr val="tx1">
                    <a:alpha val="60000"/>
                  </a:schemeClr>
                </a:solidFill>
                <a:latin typeface="Calibri" pitchFamily="34" charset="0"/>
                <a:ea typeface="Calibri" pitchFamily="34" charset="-122"/>
                <a:cs typeface="Calibri" pitchFamily="34" charset="-120"/>
              </a:rPr>
              <a:t>Checkout orchestrates the flow</a:t>
            </a:r>
            <a:endParaRPr lang="en-US" sz="1200" dirty="0"/>
          </a:p>
        </p:txBody>
      </p:sp>
      <p:sp>
        <p:nvSpPr>
          <p:cNvPr id="27" name="icon tile plug"/>
          <p:cNvSpPr/>
          <p:nvPr/>
        </p:nvSpPr>
        <p:spPr>
          <a:xfrm>
            <a:off x="8759952" y="3054096"/>
            <a:ext cx="457200" cy="457200"/>
          </a:xfrm>
          <a:prstGeom prst="roundRect">
            <a:avLst>
              <a:gd name="adj" fmla="val 24000"/>
            </a:avLst>
          </a:prstGeom>
          <a:solidFill>
            <a:schemeClr val="bg2"/>
          </a:solidFill>
          <a:ln/>
        </p:spPr>
      </p:sp>
      <p:pic>
        <p:nvPicPr>
          <p:cNvPr id="28" name="icon plug" descr="plug">    </p:cNvPr>
          <p:cNvPicPr>
            <a:picLocks noChangeAspect="1"/>
          </p:cNvPicPr>
          <p:nvPr/>
        </p:nvPicPr>
        <p:blipFill>
          <a:blip r:embed="rId7"/>
          <a:stretch>
            <a:fillRect/>
          </a:stretch>
        </p:blipFill>
        <p:spPr>
          <a:xfrm>
            <a:off x="8860536" y="3154680"/>
            <a:ext cx="256032" cy="256032"/>
          </a:xfrm>
          <a:prstGeom prst="rect">
            <a:avLst/>
          </a:prstGeom>
        </p:spPr>
      </p:pic>
      <p:sp>
        <p:nvSpPr>
          <p:cNvPr id="29" name="Text 20"/>
          <p:cNvSpPr txBox="1"/>
          <p:nvPr/>
        </p:nvSpPr>
        <p:spPr>
          <a:xfrm>
            <a:off x="9354312" y="3035808"/>
            <a:ext cx="224028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Adapter</a:t>
            </a:r>
            <a:endParaRPr lang="en-US" sz="1400" dirty="0"/>
          </a:p>
        </p:txBody>
      </p:sp>
      <p:sp>
        <p:nvSpPr>
          <p:cNvPr id="30" name="Text 21"/>
          <p:cNvSpPr txBox="1"/>
          <p:nvPr/>
        </p:nvSpPr>
        <p:spPr>
          <a:xfrm>
            <a:off x="9354312" y="3300984"/>
            <a:ext cx="2240280" cy="274320"/>
          </a:xfrm>
          <a:prstGeom prst="rect">
            <a:avLst/>
          </a:prstGeom>
          <a:noFill/>
          <a:ln/>
        </p:spPr>
        <p:txBody>
          <a:bodyPr wrap="square" lIns="0" tIns="0" rIns="0" bIns="0" rtlCol="0" anchor="t"/>
          <a:lstStyle/>
          <a:p>
            <a:pPr indent="0" marL="0">
              <a:buNone/>
            </a:pPr>
            <a:r>
              <a:rPr lang="en-US" sz="1200" dirty="0">
                <a:solidFill>
                  <a:schemeClr val="tx1">
                    <a:alpha val="60000"/>
                  </a:schemeClr>
                </a:solidFill>
                <a:latin typeface="Calibri" pitchFamily="34" charset="0"/>
                <a:ea typeface="Calibri" pitchFamily="34" charset="-122"/>
                <a:cs typeface="Calibri" pitchFamily="34" charset="-120"/>
              </a:rPr>
              <a:t>One class per PSP or courier</a:t>
            </a:r>
            <a:endParaRPr lang="en-US" sz="1200" dirty="0"/>
          </a:p>
        </p:txBody>
      </p:sp>
      <p:sp>
        <p:nvSpPr>
          <p:cNvPr id="31" name="icon tile radio-tower"/>
          <p:cNvSpPr/>
          <p:nvPr/>
        </p:nvSpPr>
        <p:spPr>
          <a:xfrm>
            <a:off x="5806440" y="3895344"/>
            <a:ext cx="457200" cy="457200"/>
          </a:xfrm>
          <a:prstGeom prst="roundRect">
            <a:avLst>
              <a:gd name="adj" fmla="val 24000"/>
            </a:avLst>
          </a:prstGeom>
          <a:solidFill>
            <a:schemeClr val="bg2"/>
          </a:solidFill>
          <a:ln/>
        </p:spPr>
      </p:sp>
      <p:pic>
        <p:nvPicPr>
          <p:cNvPr id="32" name="icon radio-tower" descr="radio tower">    </p:cNvPr>
          <p:cNvPicPr>
            <a:picLocks noChangeAspect="1"/>
          </p:cNvPicPr>
          <p:nvPr/>
        </p:nvPicPr>
        <p:blipFill>
          <a:blip r:embed="rId8"/>
          <a:stretch>
            <a:fillRect/>
          </a:stretch>
        </p:blipFill>
        <p:spPr>
          <a:xfrm>
            <a:off x="5907024" y="3995928"/>
            <a:ext cx="256032" cy="256032"/>
          </a:xfrm>
          <a:prstGeom prst="rect">
            <a:avLst/>
          </a:prstGeom>
        </p:spPr>
      </p:pic>
      <p:sp>
        <p:nvSpPr>
          <p:cNvPr id="33" name="Text 23"/>
          <p:cNvSpPr txBox="1"/>
          <p:nvPr/>
        </p:nvSpPr>
        <p:spPr>
          <a:xfrm>
            <a:off x="6400800" y="3877056"/>
            <a:ext cx="224028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Observer</a:t>
            </a:r>
            <a:endParaRPr lang="en-US" sz="1400" dirty="0"/>
          </a:p>
        </p:txBody>
      </p:sp>
      <p:sp>
        <p:nvSpPr>
          <p:cNvPr id="34" name="Text 24"/>
          <p:cNvSpPr txBox="1"/>
          <p:nvPr/>
        </p:nvSpPr>
        <p:spPr>
          <a:xfrm>
            <a:off x="6400800" y="4142232"/>
            <a:ext cx="2240280" cy="274320"/>
          </a:xfrm>
          <a:prstGeom prst="rect">
            <a:avLst/>
          </a:prstGeom>
          <a:noFill/>
          <a:ln/>
        </p:spPr>
        <p:txBody>
          <a:bodyPr wrap="square" lIns="0" tIns="0" rIns="0" bIns="0" rtlCol="0" anchor="t"/>
          <a:lstStyle/>
          <a:p>
            <a:pPr indent="0" marL="0">
              <a:buNone/>
            </a:pPr>
            <a:r>
              <a:rPr lang="en-US" sz="1200" dirty="0">
                <a:solidFill>
                  <a:schemeClr val="tx1">
                    <a:alpha val="60000"/>
                  </a:schemeClr>
                </a:solidFill>
                <a:latin typeface="Calibri" pitchFamily="34" charset="0"/>
                <a:ea typeface="Calibri" pitchFamily="34" charset="-122"/>
                <a:cs typeface="Calibri" pitchFamily="34" charset="-120"/>
              </a:rPr>
              <a:t>Events drive notifications</a:t>
            </a:r>
            <a:endParaRPr lang="en-US" sz="1200" dirty="0"/>
          </a:p>
        </p:txBody>
      </p:sp>
      <p:sp>
        <p:nvSpPr>
          <p:cNvPr id="35" name="icon tile zap-off"/>
          <p:cNvSpPr/>
          <p:nvPr/>
        </p:nvSpPr>
        <p:spPr>
          <a:xfrm>
            <a:off x="8759952" y="3895344"/>
            <a:ext cx="457200" cy="457200"/>
          </a:xfrm>
          <a:prstGeom prst="roundRect">
            <a:avLst>
              <a:gd name="adj" fmla="val 24000"/>
            </a:avLst>
          </a:prstGeom>
          <a:solidFill>
            <a:schemeClr val="bg2"/>
          </a:solidFill>
          <a:ln/>
        </p:spPr>
      </p:sp>
      <p:pic>
        <p:nvPicPr>
          <p:cNvPr id="36" name="icon zap-off" descr="zap off">    </p:cNvPr>
          <p:cNvPicPr>
            <a:picLocks noChangeAspect="1"/>
          </p:cNvPicPr>
          <p:nvPr/>
        </p:nvPicPr>
        <p:blipFill>
          <a:blip r:embed="rId9"/>
          <a:stretch>
            <a:fillRect/>
          </a:stretch>
        </p:blipFill>
        <p:spPr>
          <a:xfrm>
            <a:off x="8860536" y="3995928"/>
            <a:ext cx="256032" cy="256032"/>
          </a:xfrm>
          <a:prstGeom prst="rect">
            <a:avLst/>
          </a:prstGeom>
        </p:spPr>
      </p:pic>
      <p:sp>
        <p:nvSpPr>
          <p:cNvPr id="37" name="Text 26"/>
          <p:cNvSpPr txBox="1"/>
          <p:nvPr/>
        </p:nvSpPr>
        <p:spPr>
          <a:xfrm>
            <a:off x="9354312" y="3877056"/>
            <a:ext cx="224028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Circuit breaker</a:t>
            </a:r>
            <a:endParaRPr lang="en-US" sz="1400" dirty="0"/>
          </a:p>
        </p:txBody>
      </p:sp>
      <p:sp>
        <p:nvSpPr>
          <p:cNvPr id="38" name="Text 27"/>
          <p:cNvSpPr txBox="1"/>
          <p:nvPr/>
        </p:nvSpPr>
        <p:spPr>
          <a:xfrm>
            <a:off x="9354312" y="4142232"/>
            <a:ext cx="2240280" cy="274320"/>
          </a:xfrm>
          <a:prstGeom prst="rect">
            <a:avLst/>
          </a:prstGeom>
          <a:noFill/>
          <a:ln/>
        </p:spPr>
        <p:txBody>
          <a:bodyPr wrap="square" lIns="0" tIns="0" rIns="0" bIns="0" rtlCol="0" anchor="t"/>
          <a:lstStyle/>
          <a:p>
            <a:pPr indent="0" marL="0">
              <a:buNone/>
            </a:pPr>
            <a:r>
              <a:rPr lang="en-US" sz="1200" dirty="0">
                <a:solidFill>
                  <a:schemeClr val="tx1">
                    <a:alpha val="60000"/>
                  </a:schemeClr>
                </a:solidFill>
                <a:latin typeface="Calibri" pitchFamily="34" charset="0"/>
                <a:ea typeface="Calibri" pitchFamily="34" charset="-122"/>
                <a:cs typeface="Calibri" pitchFamily="34" charset="-120"/>
              </a:rPr>
              <a:t>Fails fast when the PSP is down</a:t>
            </a:r>
            <a:endParaRPr lang="en-US" sz="1200" dirty="0"/>
          </a:p>
        </p:txBody>
      </p:sp>
      <p:sp>
        <p:nvSpPr>
          <p:cNvPr id="39" name="extensibility card"/>
          <p:cNvSpPr/>
          <p:nvPr/>
        </p:nvSpPr>
        <p:spPr>
          <a:xfrm>
            <a:off x="5806440" y="4800600"/>
            <a:ext cx="5833872" cy="1280160"/>
          </a:xfrm>
          <a:prstGeom prst="roundRect">
            <a:avLst>
              <a:gd name="adj" fmla="val 7143"/>
            </a:avLst>
          </a:prstGeom>
          <a:solidFill>
            <a:schemeClr val="bg2"/>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40" name="Text 29"/>
          <p:cNvSpPr txBox="1"/>
          <p:nvPr/>
        </p:nvSpPr>
        <p:spPr>
          <a:xfrm>
            <a:off x="6080760" y="4983480"/>
            <a:ext cx="5349240" cy="960120"/>
          </a:xfrm>
          <a:prstGeom prst="rect">
            <a:avLst/>
          </a:prstGeom>
          <a:noFill/>
          <a:ln/>
        </p:spPr>
        <p:txBody>
          <a:bodyPr wrap="square" lIns="0" tIns="0" rIns="0" bIns="0" rtlCol="0" anchor="t"/>
          <a:lstStyle/>
          <a:p>
            <a:pPr indent="0" marL="0">
              <a:spcAft>
                <a:spcPts val="400"/>
              </a:spcAft>
              <a:buNone/>
            </a:pPr>
            <a:r>
              <a:rPr lang="en-US" sz="1350" b="1" dirty="0">
                <a:solidFill>
                  <a:schemeClr val="tx1"/>
                </a:solidFill>
                <a:latin typeface="Calibri" pitchFamily="34" charset="0"/>
                <a:ea typeface="Calibri" pitchFamily="34" charset="-122"/>
                <a:cs typeface="Calibri" pitchFamily="34" charset="-120"/>
              </a:rPr>
              <a:t>New payment provider = one adapter class + one registry line.</a:t>
            </a:r>
            <a:endParaRPr lang="en-US" sz="1350" dirty="0"/>
          </a:p>
          <a:p>
            <a:pPr indent="0" marL="0">
              <a:spcAft>
                <a:spcPts val="400"/>
              </a:spcAft>
              <a:buNone/>
            </a:pPr>
            <a:r>
              <a:rPr lang="en-US" sz="1350" dirty="0">
                <a:solidFill>
                  <a:schemeClr val="tx1">
                    <a:alpha val="65000"/>
                  </a:schemeClr>
                </a:solidFill>
                <a:latin typeface="Calibri" pitchFamily="34" charset="0"/>
                <a:ea typeface="Calibri" pitchFamily="34" charset="-122"/>
                <a:cs typeface="Calibri" pitchFamily="34" charset="-120"/>
              </a:rPr>
              <a:t>Services depend on PaymentGateway and ReservationStrategy interfaces, wired in one composition root (SRP, OCP, LSP, ISP, DIP).</a:t>
            </a:r>
            <a:endParaRPr lang="en-US" sz="13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597"/>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8778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At 50× traffic, only the edge grows</a:t>
            </a:r>
            <a:endParaRPr lang="en-US" sz="3000" dirty="0"/>
          </a:p>
        </p:txBody>
      </p:sp>
      <p:sp>
        <p:nvSpPr>
          <p:cNvPr id="3" name="pitch timing"/>
          <p:cNvSpPr txBox="1"/>
          <p:nvPr/>
        </p:nvSpPr>
        <p:spPr>
          <a:xfrm>
            <a:off x="9445752" y="530352"/>
            <a:ext cx="2194560" cy="384048"/>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4:30 – 5:00  ·  Scale &amp; proof</a:t>
            </a:r>
            <a:endParaRPr lang="en-US" sz="1200" dirty="0"/>
          </a:p>
        </p:txBody>
      </p:sp>
      <p:graphicFrame>
        <p:nvGraphicFramePr>
          <p:cNvPr id="9" name="scale table"/>
          <p:cNvGraphicFramePr>
            <a:graphicFrameLocks noGrp="1"/>
          </p:cNvGraphicFramePr>
          <p:nvPr>
            <p:extLst>
              <p:ext uri="{D42A27DB-BD31-4B8C-83A1-F6EECF244321}">
                <p14:modId xmlns:p14="http://schemas.microsoft.com/office/powerpoint/2010/main" val="1579011935"/>
              </p:ext>
            </p:extLst>
          </p:nvPr>
        </p:nvGraphicFramePr>
        <p:xfrm>
          <a:off x="548640" y="1417320"/>
          <a:ext cx="5852160" cy="914400"/>
        </p:xfrm>
        <a:graphic>
          <a:graphicData uri="http://schemas.openxmlformats.org/drawingml/2006/table">
            <a:tbl>
              <a:tblPr/>
              <a:tblGrid>
                <a:gridCol w="1920240"/>
                <a:gridCol w="1828800"/>
                <a:gridCol w="2103120"/>
              </a:tblGrid>
              <a:tr h="475488">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Layer</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latin typeface="Calibri" pitchFamily="34" charset="0"/>
                          <a:ea typeface="Calibri" pitchFamily="34" charset="-122"/>
                          <a:cs typeface="Calibri" pitchFamily="34" charset="-120"/>
                        </a:rPr>
                        <a:t>10k req/s</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latin typeface="Calibri" pitchFamily="34" charset="0"/>
                          <a:ea typeface="Calibri" pitchFamily="34" charset="-122"/>
                          <a:cs typeface="Calibri" pitchFamily="34" charset="-120"/>
                        </a:rPr>
                        <a:t>500k req/s</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47548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CDN / WAF</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latin typeface="Calibri" pitchFamily="34" charset="0"/>
                          <a:ea typeface="Calibri" pitchFamily="34" charset="-122"/>
                          <a:cs typeface="Calibri" pitchFamily="34" charset="-120"/>
                        </a:rPr>
                        <a:t>Easy</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latin typeface="Calibri" pitchFamily="34" charset="0"/>
                          <a:ea typeface="Calibri" pitchFamily="34" charset="-122"/>
                          <a:cs typeface="Calibri" pitchFamily="34" charset="-120"/>
                        </a:rPr>
                        <a:t>Primary shield</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r>
              <a:tr h="47548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Waiting room</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latin typeface="Calibri" pitchFamily="34" charset="0"/>
                          <a:ea typeface="Calibri" pitchFamily="34" charset="-122"/>
                          <a:cs typeface="Calibri" pitchFamily="34" charset="-120"/>
                        </a:rPr>
                        <a:t>Idle</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latin typeface="Calibri" pitchFamily="34" charset="0"/>
                          <a:ea typeface="Calibri" pitchFamily="34" charset="-122"/>
                          <a:cs typeface="Calibri" pitchFamily="34" charset="-120"/>
                        </a:rPr>
                        <a:t>Admits ~20k users/s</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r>
              <a:tr h="47548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API gateway</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latin typeface="Calibri" pitchFamily="34" charset="0"/>
                          <a:ea typeface="Calibri" pitchFamily="34" charset="-122"/>
                          <a:cs typeface="Calibri" pitchFamily="34" charset="-120"/>
                        </a:rPr>
                        <a:t>~10 pods</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latin typeface="Calibri" pitchFamily="34" charset="0"/>
                          <a:ea typeface="Calibri" pitchFamily="34" charset="-122"/>
                          <a:cs typeface="Calibri" pitchFamily="34" charset="-120"/>
                        </a:rPr>
                        <a:t>~60–100 pods</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r>
              <a:tr h="47548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Redis gate</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latin typeface="Calibri" pitchFamily="34" charset="0"/>
                          <a:ea typeface="Calibri" pitchFamily="34" charset="-122"/>
                          <a:cs typeface="Calibri" pitchFamily="34" charset="-120"/>
                        </a:rPr>
                        <a:t>~10k ops/s</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latin typeface="Calibri" pitchFamily="34" charset="0"/>
                          <a:ea typeface="Calibri" pitchFamily="34" charset="-122"/>
                          <a:cs typeface="Calibri" pitchFamily="34" charset="-120"/>
                        </a:rPr>
                        <a:t>Bucketed keys if needed</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r>
              <a:tr h="47548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Inventory DB</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latin typeface="Calibri" pitchFamily="34" charset="0"/>
                          <a:ea typeface="Calibri" pitchFamily="34" charset="-122"/>
                          <a:cs typeface="Calibri" pitchFamily="34" charset="-120"/>
                        </a:rPr>
                        <a:t>~110 writes</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accent5"/>
                          </a:solidFill>
                          <a:latin typeface="Calibri" pitchFamily="34" charset="0"/>
                          <a:ea typeface="Calibri" pitchFamily="34" charset="-122"/>
                          <a:cs typeface="Calibri" pitchFamily="34" charset="-120"/>
                        </a:rPr>
                        <a:t>~110 writes</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r>
              <a:tr h="47548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Payment / Order</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latin typeface="Calibri" pitchFamily="34" charset="0"/>
                          <a:ea typeface="Calibri" pitchFamily="34" charset="-122"/>
                          <a:cs typeface="Calibri" pitchFamily="34" charset="-120"/>
                        </a:rPr>
                        <a:t>≤ 100 each</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accent5"/>
                          </a:solidFill>
                          <a:latin typeface="Calibri" pitchFamily="34" charset="0"/>
                          <a:ea typeface="Calibri" pitchFamily="34" charset="-122"/>
                          <a:cs typeface="Calibri" pitchFamily="34" charset="-120"/>
                        </a:rPr>
                        <a:t>≤ 100 each</a:t>
                      </a:r>
                      <a:endParaRPr lang="en-US" sz="1400" dirty="0">
                        <a:latin typeface="Calibri" charset="0"/>
                        <a:ea typeface="Calibri" charset="0"/>
                        <a:cs typeface="Calibri" charset="0"/>
                      </a:endParaRPr>
                    </a:p>
                  </a:txBody>
                  <a:tcPr marL="109728" marR="109728"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4937760"/>
            <a:ext cx="5852160" cy="365760"/>
          </a:xfrm>
          <a:prstGeom prst="rect">
            <a:avLst/>
          </a:prstGeom>
          <a:noFill/>
          <a:ln/>
        </p:spPr>
        <p:txBody>
          <a:bodyPr wrap="square" lIns="0" tIns="0" rIns="0" bIns="0" rtlCol="0" anchor="t"/>
          <a:lstStyle/>
          <a:p>
            <a:pPr indent="0" marL="0">
              <a:buNone/>
            </a:pPr>
            <a:r>
              <a:rPr lang="en-US" sz="1600" b="1" i="1" dirty="0">
                <a:solidFill>
                  <a:schemeClr val="accent1"/>
                </a:solidFill>
                <a:latin typeface="Calibri" pitchFamily="34" charset="0"/>
                <a:ea typeface="Calibri" pitchFamily="34" charset="-122"/>
                <a:cs typeface="Calibri" pitchFamily="34" charset="-120"/>
              </a:rPr>
              <a:t>Load after the gate is bounded by stock, not by traffic.</a:t>
            </a:r>
            <a:endParaRPr lang="en-US" sz="1600" dirty="0"/>
          </a:p>
        </p:txBody>
      </p:sp>
      <p:sp>
        <p:nvSpPr>
          <p:cNvPr id="6" name="Text 3"/>
          <p:cNvSpPr txBox="1"/>
          <p:nvPr/>
        </p:nvSpPr>
        <p:spPr>
          <a:xfrm>
            <a:off x="548640" y="5349240"/>
            <a:ext cx="5852160" cy="594360"/>
          </a:xfrm>
          <a:prstGeom prst="rect">
            <a:avLst/>
          </a:prstGeom>
          <a:noFill/>
          <a:ln/>
        </p:spPr>
        <p:txBody>
          <a:bodyPr wrap="square" lIns="0" tIns="0" rIns="0" bIns="0" rtlCol="0" anchor="t"/>
          <a:lstStyle/>
          <a:p>
            <a:pPr indent="0" marL="0">
              <a:buNone/>
            </a:pPr>
            <a:r>
              <a:rPr lang="en-US" sz="1300" dirty="0">
                <a:solidFill>
                  <a:schemeClr val="tx1">
                    <a:alpha val="60000"/>
                  </a:schemeClr>
                </a:solidFill>
                <a:latin typeface="Calibri" pitchFamily="34" charset="0"/>
                <a:ea typeface="Calibri" pitchFamily="34" charset="-122"/>
                <a:cs typeface="Calibri" pitchFamily="34" charset="-120"/>
              </a:rPr>
              <a:t>Only stateless layers scale out. The database, payments and orders see the same load at 10k or 500k req/s.</a:t>
            </a:r>
            <a:endParaRPr lang="en-US" sz="1300" dirty="0"/>
          </a:p>
        </p:txBody>
      </p:sp>
      <p:sp>
        <p:nvSpPr>
          <p:cNvPr id="7" name="proof 15 / 15"/>
          <p:cNvSpPr/>
          <p:nvPr/>
        </p:nvSpPr>
        <p:spPr>
          <a:xfrm>
            <a:off x="6812280" y="1417320"/>
            <a:ext cx="2331720" cy="1645920"/>
          </a:xfrm>
          <a:prstGeom prst="roundRect">
            <a:avLst>
              <a:gd name="adj" fmla="val 5556"/>
            </a:avLst>
          </a:prstGeom>
          <a:solidFill>
            <a:schemeClr val="bg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8" name="icon tile flask-conical"/>
          <p:cNvSpPr/>
          <p:nvPr/>
        </p:nvSpPr>
        <p:spPr>
          <a:xfrm>
            <a:off x="7040880" y="1645920"/>
            <a:ext cx="411480" cy="411480"/>
          </a:xfrm>
          <a:prstGeom prst="roundRect">
            <a:avLst>
              <a:gd name="adj" fmla="val 26667"/>
            </a:avLst>
          </a:prstGeom>
          <a:solidFill>
            <a:schemeClr val="bg2"/>
          </a:solidFill>
          <a:ln/>
        </p:spPr>
      </p:sp>
      <p:pic>
        <p:nvPicPr>
          <p:cNvPr id="9" name="icon flask-conical" descr="flask conical">    </p:cNvPr>
          <p:cNvPicPr>
            <a:picLocks noChangeAspect="1"/>
          </p:cNvPicPr>
          <p:nvPr/>
        </p:nvPicPr>
        <p:blipFill>
          <a:blip r:embed="rId1"/>
          <a:stretch>
            <a:fillRect/>
          </a:stretch>
        </p:blipFill>
        <p:spPr>
          <a:xfrm>
            <a:off x="7131406" y="1736446"/>
            <a:ext cx="230429" cy="230429"/>
          </a:xfrm>
          <a:prstGeom prst="rect">
            <a:avLst/>
          </a:prstGeom>
        </p:spPr>
      </p:pic>
      <p:sp>
        <p:nvSpPr>
          <p:cNvPr id="10" name="Text 6"/>
          <p:cNvSpPr txBox="1"/>
          <p:nvPr/>
        </p:nvSpPr>
        <p:spPr>
          <a:xfrm>
            <a:off x="7040880" y="2103120"/>
            <a:ext cx="192024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15 / 15</a:t>
            </a:r>
            <a:endParaRPr lang="en-US" sz="2600" dirty="0"/>
          </a:p>
        </p:txBody>
      </p:sp>
      <p:sp>
        <p:nvSpPr>
          <p:cNvPr id="11" name="Text 7"/>
          <p:cNvSpPr txBox="1"/>
          <p:nvPr/>
        </p:nvSpPr>
        <p:spPr>
          <a:xfrm>
            <a:off x="7040880" y="2532888"/>
            <a:ext cx="1965960" cy="457200"/>
          </a:xfrm>
          <a:prstGeom prst="rect">
            <a:avLst/>
          </a:prstGeom>
          <a:noFill/>
          <a:ln/>
        </p:spPr>
        <p:txBody>
          <a:bodyPr wrap="square" lIns="0" tIns="0" rIns="0" bIns="0" rtlCol="0" anchor="t"/>
          <a:lstStyle/>
          <a:p>
            <a:pPr indent="0" marL="0">
              <a:buNone/>
            </a:pPr>
            <a:r>
              <a:rPr lang="en-US" sz="1150" dirty="0">
                <a:solidFill>
                  <a:schemeClr val="tx1">
                    <a:alpha val="60000"/>
                  </a:schemeClr>
                </a:solidFill>
                <a:latin typeface="Calibri" pitchFamily="34" charset="0"/>
                <a:ea typeface="Calibri" pitchFamily="34" charset="-122"/>
                <a:cs typeface="Calibri" pitchFamily="34" charset="-120"/>
              </a:rPr>
              <a:t>automated tests pass, incl. one that must fail</a:t>
            </a:r>
            <a:endParaRPr lang="en-US" sz="1150" dirty="0"/>
          </a:p>
        </p:txBody>
      </p:sp>
      <p:sp>
        <p:nvSpPr>
          <p:cNvPr id="12" name="proof 8 / 8"/>
          <p:cNvSpPr/>
          <p:nvPr/>
        </p:nvSpPr>
        <p:spPr>
          <a:xfrm>
            <a:off x="9281160" y="1417320"/>
            <a:ext cx="2331720" cy="1645920"/>
          </a:xfrm>
          <a:prstGeom prst="roundRect">
            <a:avLst>
              <a:gd name="adj" fmla="val 5556"/>
            </a:avLst>
          </a:prstGeom>
          <a:solidFill>
            <a:schemeClr val="bg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13" name="icon tile shield-check"/>
          <p:cNvSpPr/>
          <p:nvPr/>
        </p:nvSpPr>
        <p:spPr>
          <a:xfrm>
            <a:off x="9509760" y="1645920"/>
            <a:ext cx="411480" cy="411480"/>
          </a:xfrm>
          <a:prstGeom prst="roundRect">
            <a:avLst>
              <a:gd name="adj" fmla="val 26667"/>
            </a:avLst>
          </a:prstGeom>
          <a:solidFill>
            <a:schemeClr val="bg2"/>
          </a:solidFill>
          <a:ln/>
        </p:spPr>
      </p:sp>
      <p:pic>
        <p:nvPicPr>
          <p:cNvPr id="14" name="icon shield-check" descr="shield check">    </p:cNvPr>
          <p:cNvPicPr>
            <a:picLocks noChangeAspect="1"/>
          </p:cNvPicPr>
          <p:nvPr/>
        </p:nvPicPr>
        <p:blipFill>
          <a:blip r:embed="rId2"/>
          <a:stretch>
            <a:fillRect/>
          </a:stretch>
        </p:blipFill>
        <p:spPr>
          <a:xfrm>
            <a:off x="9600286" y="1736446"/>
            <a:ext cx="230429" cy="230429"/>
          </a:xfrm>
          <a:prstGeom prst="rect">
            <a:avLst/>
          </a:prstGeom>
        </p:spPr>
      </p:pic>
      <p:sp>
        <p:nvSpPr>
          <p:cNvPr id="15" name="Text 10"/>
          <p:cNvSpPr txBox="1"/>
          <p:nvPr/>
        </p:nvSpPr>
        <p:spPr>
          <a:xfrm>
            <a:off x="9509760" y="2103120"/>
            <a:ext cx="192024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8 / 8</a:t>
            </a:r>
            <a:endParaRPr lang="en-US" sz="2600" dirty="0"/>
          </a:p>
        </p:txBody>
      </p:sp>
      <p:sp>
        <p:nvSpPr>
          <p:cNvPr id="16" name="Text 11"/>
          <p:cNvSpPr txBox="1"/>
          <p:nvPr/>
        </p:nvSpPr>
        <p:spPr>
          <a:xfrm>
            <a:off x="9509760" y="2532888"/>
            <a:ext cx="1965960" cy="457200"/>
          </a:xfrm>
          <a:prstGeom prst="rect">
            <a:avLst/>
          </a:prstGeom>
          <a:noFill/>
          <a:ln/>
        </p:spPr>
        <p:txBody>
          <a:bodyPr wrap="square" lIns="0" tIns="0" rIns="0" bIns="0" rtlCol="0" anchor="t"/>
          <a:lstStyle/>
          <a:p>
            <a:pPr indent="0" marL="0">
              <a:buNone/>
            </a:pPr>
            <a:r>
              <a:rPr lang="en-US" sz="1150" dirty="0">
                <a:solidFill>
                  <a:schemeClr val="tx1">
                    <a:alpha val="60000"/>
                  </a:schemeClr>
                </a:solidFill>
                <a:latin typeface="Calibri" pitchFamily="34" charset="0"/>
                <a:ea typeface="Calibri" pitchFamily="34" charset="-122"/>
                <a:cs typeface="Calibri" pitchFamily="34" charset="-120"/>
              </a:rPr>
              <a:t>guarantees hold, checked live</a:t>
            </a:r>
            <a:endParaRPr lang="en-US" sz="1150" dirty="0"/>
          </a:p>
        </p:txBody>
      </p:sp>
      <p:sp>
        <p:nvSpPr>
          <p:cNvPr id="17" name="proof 0"/>
          <p:cNvSpPr/>
          <p:nvPr/>
        </p:nvSpPr>
        <p:spPr>
          <a:xfrm>
            <a:off x="6812280" y="3246120"/>
            <a:ext cx="2331720" cy="1645920"/>
          </a:xfrm>
          <a:prstGeom prst="roundRect">
            <a:avLst>
              <a:gd name="adj" fmla="val 5556"/>
            </a:avLst>
          </a:prstGeom>
          <a:solidFill>
            <a:schemeClr val="bg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18" name="icon tile server-off"/>
          <p:cNvSpPr/>
          <p:nvPr/>
        </p:nvSpPr>
        <p:spPr>
          <a:xfrm>
            <a:off x="7040880" y="3474720"/>
            <a:ext cx="411480" cy="411480"/>
          </a:xfrm>
          <a:prstGeom prst="roundRect">
            <a:avLst>
              <a:gd name="adj" fmla="val 26667"/>
            </a:avLst>
          </a:prstGeom>
          <a:solidFill>
            <a:schemeClr val="bg2"/>
          </a:solidFill>
          <a:ln/>
        </p:spPr>
      </p:sp>
      <p:pic>
        <p:nvPicPr>
          <p:cNvPr id="19" name="icon server-off" descr="server off">    </p:cNvPr>
          <p:cNvPicPr>
            <a:picLocks noChangeAspect="1"/>
          </p:cNvPicPr>
          <p:nvPr/>
        </p:nvPicPr>
        <p:blipFill>
          <a:blip r:embed="rId3"/>
          <a:stretch>
            <a:fillRect/>
          </a:stretch>
        </p:blipFill>
        <p:spPr>
          <a:xfrm>
            <a:off x="7131406" y="3565246"/>
            <a:ext cx="230429" cy="230429"/>
          </a:xfrm>
          <a:prstGeom prst="rect">
            <a:avLst/>
          </a:prstGeom>
        </p:spPr>
      </p:pic>
      <p:sp>
        <p:nvSpPr>
          <p:cNvPr id="20" name="Text 14"/>
          <p:cNvSpPr txBox="1"/>
          <p:nvPr/>
        </p:nvSpPr>
        <p:spPr>
          <a:xfrm>
            <a:off x="7040880" y="3931920"/>
            <a:ext cx="192024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0</a:t>
            </a:r>
            <a:endParaRPr lang="en-US" sz="2600" dirty="0"/>
          </a:p>
        </p:txBody>
      </p:sp>
      <p:sp>
        <p:nvSpPr>
          <p:cNvPr id="21" name="Text 15"/>
          <p:cNvSpPr txBox="1"/>
          <p:nvPr/>
        </p:nvSpPr>
        <p:spPr>
          <a:xfrm>
            <a:off x="7040880" y="4361688"/>
            <a:ext cx="1965960" cy="457200"/>
          </a:xfrm>
          <a:prstGeom prst="rect">
            <a:avLst/>
          </a:prstGeom>
          <a:noFill/>
          <a:ln/>
        </p:spPr>
        <p:txBody>
          <a:bodyPr wrap="square" lIns="0" tIns="0" rIns="0" bIns="0" rtlCol="0" anchor="t"/>
          <a:lstStyle/>
          <a:p>
            <a:pPr indent="0" marL="0">
              <a:buNone/>
            </a:pPr>
            <a:r>
              <a:rPr lang="en-US" sz="1150" dirty="0">
                <a:solidFill>
                  <a:schemeClr val="tx1">
                    <a:alpha val="60000"/>
                  </a:schemeClr>
                </a:solidFill>
                <a:latin typeface="Calibri" pitchFamily="34" charset="0"/>
                <a:ea typeface="Calibri" pitchFamily="34" charset="-122"/>
                <a:cs typeface="Calibri" pitchFamily="34" charset="-120"/>
              </a:rPr>
              <a:t>requests sent to a dead gateway pod</a:t>
            </a:r>
            <a:endParaRPr lang="en-US" sz="1150" dirty="0"/>
          </a:p>
        </p:txBody>
      </p:sp>
      <p:sp>
        <p:nvSpPr>
          <p:cNvPr id="22" name="proof 0"/>
          <p:cNvSpPr/>
          <p:nvPr/>
        </p:nvSpPr>
        <p:spPr>
          <a:xfrm>
            <a:off x="9281160" y="3246120"/>
            <a:ext cx="2331720" cy="1645920"/>
          </a:xfrm>
          <a:prstGeom prst="roundRect">
            <a:avLst>
              <a:gd name="adj" fmla="val 5556"/>
            </a:avLst>
          </a:prstGeom>
          <a:solidFill>
            <a:schemeClr val="bg1"/>
          </a:solidFill>
          <a:ln w="12700">
            <a:solidFill>
              <a:schemeClr val="bg2"/>
            </a:solidFill>
            <a:prstDash val="solid"/>
          </a:ln>
          <a:effectLst>
            <a:outerShdw sx="100000" sy="100000" kx="0" ky="0" algn="bl" rotWithShape="0" blurRad="101600" dist="25400" dir="5400000">
              <a:srgbClr val="142033">
                <a:alpha val="10000"/>
              </a:srgbClr>
            </a:outerShdw>
          </a:effectLst>
        </p:spPr>
      </p:sp>
      <p:sp>
        <p:nvSpPr>
          <p:cNvPr id="23" name="icon tile badge-indian-rupee"/>
          <p:cNvSpPr/>
          <p:nvPr/>
        </p:nvSpPr>
        <p:spPr>
          <a:xfrm>
            <a:off x="9509760" y="3474720"/>
            <a:ext cx="411480" cy="411480"/>
          </a:xfrm>
          <a:prstGeom prst="roundRect">
            <a:avLst>
              <a:gd name="adj" fmla="val 26667"/>
            </a:avLst>
          </a:prstGeom>
          <a:solidFill>
            <a:schemeClr val="bg2"/>
          </a:solidFill>
          <a:ln/>
        </p:spPr>
      </p:sp>
      <p:pic>
        <p:nvPicPr>
          <p:cNvPr id="24" name="icon badge-indian-rupee" descr="badge indian rupee">    </p:cNvPr>
          <p:cNvPicPr>
            <a:picLocks noChangeAspect="1"/>
          </p:cNvPicPr>
          <p:nvPr/>
        </p:nvPicPr>
        <p:blipFill>
          <a:blip r:embed="rId4"/>
          <a:stretch>
            <a:fillRect/>
          </a:stretch>
        </p:blipFill>
        <p:spPr>
          <a:xfrm>
            <a:off x="9600286" y="3565246"/>
            <a:ext cx="230429" cy="230429"/>
          </a:xfrm>
          <a:prstGeom prst="rect">
            <a:avLst/>
          </a:prstGeom>
        </p:spPr>
      </p:pic>
      <p:sp>
        <p:nvSpPr>
          <p:cNvPr id="25" name="Text 18"/>
          <p:cNvSpPr txBox="1"/>
          <p:nvPr/>
        </p:nvSpPr>
        <p:spPr>
          <a:xfrm>
            <a:off x="9509760" y="3931920"/>
            <a:ext cx="192024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0</a:t>
            </a:r>
            <a:endParaRPr lang="en-US" sz="2600" dirty="0"/>
          </a:p>
        </p:txBody>
      </p:sp>
      <p:sp>
        <p:nvSpPr>
          <p:cNvPr id="26" name="Text 19"/>
          <p:cNvSpPr txBox="1"/>
          <p:nvPr/>
        </p:nvSpPr>
        <p:spPr>
          <a:xfrm>
            <a:off x="9509760" y="4361688"/>
            <a:ext cx="1965960" cy="457200"/>
          </a:xfrm>
          <a:prstGeom prst="rect">
            <a:avLst/>
          </a:prstGeom>
          <a:noFill/>
          <a:ln/>
        </p:spPr>
        <p:txBody>
          <a:bodyPr wrap="square" lIns="0" tIns="0" rIns="0" bIns="0" rtlCol="0" anchor="t"/>
          <a:lstStyle/>
          <a:p>
            <a:pPr indent="0" marL="0">
              <a:buNone/>
            </a:pPr>
            <a:r>
              <a:rPr lang="en-US" sz="1150" dirty="0">
                <a:solidFill>
                  <a:schemeClr val="tx1">
                    <a:alpha val="60000"/>
                  </a:schemeClr>
                </a:solidFill>
                <a:latin typeface="Calibri" pitchFamily="34" charset="0"/>
                <a:ea typeface="Calibri" pitchFamily="34" charset="-122"/>
                <a:cs typeface="Calibri" pitchFamily="34" charset="-120"/>
              </a:rPr>
              <a:t>double charges across 10,000 customers</a:t>
            </a:r>
            <a:endParaRPr lang="en-US" sz="1150" dirty="0"/>
          </a:p>
        </p:txBody>
      </p:sp>
      <p:sp>
        <p:nvSpPr>
          <p:cNvPr id="27" name="Text 20"/>
          <p:cNvSpPr txBox="1"/>
          <p:nvPr/>
        </p:nvSpPr>
        <p:spPr>
          <a:xfrm>
            <a:off x="6812280" y="5166360"/>
            <a:ext cx="4800600" cy="777240"/>
          </a:xfrm>
          <a:prstGeom prst="rect">
            <a:avLst/>
          </a:prstGeom>
          <a:noFill/>
          <a:ln/>
        </p:spPr>
        <p:txBody>
          <a:bodyPr wrap="square" lIns="0" tIns="0" rIns="0" bIns="0" rtlCol="0" anchor="t"/>
          <a:lstStyle/>
          <a:p>
            <a:pPr indent="0" marL="0">
              <a:buNone/>
            </a:pPr>
            <a:r>
              <a:rPr lang="en-US" sz="1250" i="1" dirty="0">
                <a:solidFill>
                  <a:schemeClr val="tx1">
                    <a:alpha val="60000"/>
                  </a:schemeClr>
                </a:solidFill>
                <a:latin typeface="Calibri" pitchFamily="34" charset="0"/>
                <a:ea typeface="Calibri" pitchFamily="34" charset="-122"/>
                <a:cs typeface="Calibri" pitchFamily="34" charset="-120"/>
              </a:rPr>
              <a:t>Prototype built with AI assistance (Claude). Every module was reviewed against our design, tested, and traced against our sequence diagrams.</a:t>
            </a:r>
            <a:endParaRPr lang="en-US" sz="12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597"/>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Arial" pitchFamily="34" charset="0"/>
                <a:ea typeface="Arial" pitchFamily="34" charset="-122"/>
                <a:cs typeface="Arial" pitchFamily="34" charset="-120"/>
              </a:rPr>
              <a:t>100 units, 10,000 clicks: what happens, step by step</a:t>
            </a:r>
            <a:endParaRPr lang="en-US" sz="3000" dirty="0"/>
          </a:p>
        </p:txBody>
      </p:sp>
      <p:sp>
        <p:nvSpPr>
          <p:cNvPr id="3" name="step 1"/>
          <p:cNvSpPr/>
          <p:nvPr/>
        </p:nvSpPr>
        <p:spPr>
          <a:xfrm>
            <a:off x="548640" y="1417320"/>
            <a:ext cx="3566160" cy="2194560"/>
          </a:xfrm>
          <a:prstGeom prst="roundRect">
            <a:avLst>
              <a:gd name="adj" fmla="val 4167"/>
            </a:avLst>
          </a:prstGeom>
          <a:solidFill>
            <a:schemeClr val="bg1">
              <a:alpha val="7000"/>
            </a:schemeClr>
          </a:solidFill>
          <a:ln w="9525">
            <a:solidFill>
              <a:schemeClr val="bg1">
                <a:alpha val="20000"/>
              </a:schemeClr>
            </a:solidFill>
            <a:prstDash val="solid"/>
          </a:ln>
        </p:spPr>
      </p:sp>
      <p:sp>
        <p:nvSpPr>
          <p:cNvPr id="4" name="Text 2"/>
          <p:cNvSpPr txBox="1"/>
          <p:nvPr/>
        </p:nvSpPr>
        <p:spPr>
          <a:xfrm>
            <a:off x="822960" y="1645920"/>
            <a:ext cx="548640" cy="502920"/>
          </a:xfrm>
          <a:prstGeom prst="rect">
            <a:avLst/>
          </a:prstGeom>
          <a:noFill/>
          <a:ln/>
        </p:spPr>
        <p:txBody>
          <a:bodyPr wrap="square" lIns="0" tIns="0" rIns="0" bIns="0" rtlCol="0" anchor="ctr"/>
          <a:lstStyle/>
          <a:p>
            <a:pPr indent="0" marL="0">
              <a:buNone/>
            </a:pPr>
            <a:r>
              <a:rPr lang="en-US" sz="3000" b="1" dirty="0">
                <a:solidFill>
                  <a:schemeClr val="accent2"/>
                </a:solidFill>
                <a:latin typeface="Arial" pitchFamily="34" charset="0"/>
                <a:ea typeface="Arial" pitchFamily="34" charset="-122"/>
                <a:cs typeface="Arial" pitchFamily="34" charset="-120"/>
              </a:rPr>
              <a:t>1</a:t>
            </a:r>
            <a:endParaRPr lang="en-US" sz="3000" dirty="0"/>
          </a:p>
        </p:txBody>
      </p:sp>
      <p:sp>
        <p:nvSpPr>
          <p:cNvPr id="5" name="icon tile shield-check"/>
          <p:cNvSpPr/>
          <p:nvPr/>
        </p:nvSpPr>
        <p:spPr>
          <a:xfrm>
            <a:off x="3383280" y="1645920"/>
            <a:ext cx="457200" cy="457200"/>
          </a:xfrm>
          <a:prstGeom prst="roundRect">
            <a:avLst>
              <a:gd name="adj" fmla="val 24000"/>
            </a:avLst>
          </a:prstGeom>
          <a:solidFill>
            <a:schemeClr val="bg1">
              <a:alpha val="12000"/>
            </a:schemeClr>
          </a:solidFill>
          <a:ln/>
        </p:spPr>
      </p:sp>
      <p:pic>
        <p:nvPicPr>
          <p:cNvPr id="6" name="icon shield-check" descr="shield check">    </p:cNvPr>
          <p:cNvPicPr>
            <a:picLocks noChangeAspect="1"/>
          </p:cNvPicPr>
          <p:nvPr/>
        </p:nvPicPr>
        <p:blipFill>
          <a:blip r:embed="rId1"/>
          <a:stretch>
            <a:fillRect/>
          </a:stretch>
        </p:blipFill>
        <p:spPr>
          <a:xfrm>
            <a:off x="3483864" y="1746504"/>
            <a:ext cx="256032" cy="256032"/>
          </a:xfrm>
          <a:prstGeom prst="rect">
            <a:avLst/>
          </a:prstGeom>
        </p:spPr>
      </p:pic>
      <p:sp>
        <p:nvSpPr>
          <p:cNvPr id="7" name="Text 4"/>
          <p:cNvSpPr txBox="1"/>
          <p:nvPr/>
        </p:nvSpPr>
        <p:spPr>
          <a:xfrm>
            <a:off x="822960" y="2286000"/>
            <a:ext cx="3017520" cy="3200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Edge</a:t>
            </a:r>
            <a:endParaRPr lang="en-US" sz="1600" dirty="0"/>
          </a:p>
        </p:txBody>
      </p:sp>
      <p:sp>
        <p:nvSpPr>
          <p:cNvPr id="8" name="Text 5"/>
          <p:cNvSpPr txBox="1"/>
          <p:nvPr/>
        </p:nvSpPr>
        <p:spPr>
          <a:xfrm>
            <a:off x="822960" y="2651760"/>
            <a:ext cx="3063240" cy="868680"/>
          </a:xfrm>
          <a:prstGeom prst="rect">
            <a:avLst/>
          </a:prstGeom>
          <a:noFill/>
          <a:ln/>
        </p:spPr>
        <p:txBody>
          <a:bodyPr wrap="square" lIns="0" tIns="0" rIns="0" bIns="0" rtlCol="0" anchor="t"/>
          <a:lstStyle/>
          <a:p>
            <a:pPr indent="0" marL="0">
              <a:buNone/>
            </a:pPr>
            <a:r>
              <a:rPr lang="en-US" sz="1300" dirty="0">
                <a:solidFill>
                  <a:schemeClr val="bg1">
                    <a:alpha val="80000"/>
                  </a:schemeClr>
                </a:solidFill>
                <a:latin typeface="Calibri" pitchFamily="34" charset="0"/>
                <a:ea typeface="Calibri" pitchFamily="34" charset="-122"/>
                <a:cs typeface="Calibri" pitchFamily="34" charset="-120"/>
              </a:rPr>
              <a:t>CDN / WAF filters bots. A waiting room hands out signed queue tokens if admission exceeds capacity.</a:t>
            </a:r>
            <a:endParaRPr lang="en-US" sz="1300" dirty="0"/>
          </a:p>
        </p:txBody>
      </p:sp>
      <p:sp>
        <p:nvSpPr>
          <p:cNvPr id="9" name="step 2"/>
          <p:cNvSpPr/>
          <p:nvPr/>
        </p:nvSpPr>
        <p:spPr>
          <a:xfrm>
            <a:off x="4297680" y="1417320"/>
            <a:ext cx="3566160" cy="2194560"/>
          </a:xfrm>
          <a:prstGeom prst="roundRect">
            <a:avLst>
              <a:gd name="adj" fmla="val 4167"/>
            </a:avLst>
          </a:prstGeom>
          <a:solidFill>
            <a:schemeClr val="bg1">
              <a:alpha val="7000"/>
            </a:schemeClr>
          </a:solidFill>
          <a:ln w="9525">
            <a:solidFill>
              <a:schemeClr val="bg1">
                <a:alpha val="20000"/>
              </a:schemeClr>
            </a:solidFill>
            <a:prstDash val="solid"/>
          </a:ln>
        </p:spPr>
      </p:sp>
      <p:sp>
        <p:nvSpPr>
          <p:cNvPr id="10" name="Text 7"/>
          <p:cNvSpPr txBox="1"/>
          <p:nvPr/>
        </p:nvSpPr>
        <p:spPr>
          <a:xfrm>
            <a:off x="4572000" y="1645920"/>
            <a:ext cx="548640" cy="502920"/>
          </a:xfrm>
          <a:prstGeom prst="rect">
            <a:avLst/>
          </a:prstGeom>
          <a:noFill/>
          <a:ln/>
        </p:spPr>
        <p:txBody>
          <a:bodyPr wrap="square" lIns="0" tIns="0" rIns="0" bIns="0" rtlCol="0" anchor="ctr"/>
          <a:lstStyle/>
          <a:p>
            <a:pPr indent="0" marL="0">
              <a:buNone/>
            </a:pPr>
            <a:r>
              <a:rPr lang="en-US" sz="3000" b="1" dirty="0">
                <a:solidFill>
                  <a:schemeClr val="accent2"/>
                </a:solidFill>
                <a:latin typeface="Arial" pitchFamily="34" charset="0"/>
                <a:ea typeface="Arial" pitchFamily="34" charset="-122"/>
                <a:cs typeface="Arial" pitchFamily="34" charset="-120"/>
              </a:rPr>
              <a:t>2</a:t>
            </a:r>
            <a:endParaRPr lang="en-US" sz="3000" dirty="0"/>
          </a:p>
        </p:txBody>
      </p:sp>
      <p:sp>
        <p:nvSpPr>
          <p:cNvPr id="11" name="icon tile server"/>
          <p:cNvSpPr/>
          <p:nvPr/>
        </p:nvSpPr>
        <p:spPr>
          <a:xfrm>
            <a:off x="7132320" y="1645920"/>
            <a:ext cx="457200" cy="457200"/>
          </a:xfrm>
          <a:prstGeom prst="roundRect">
            <a:avLst>
              <a:gd name="adj" fmla="val 24000"/>
            </a:avLst>
          </a:prstGeom>
          <a:solidFill>
            <a:schemeClr val="bg1">
              <a:alpha val="12000"/>
            </a:schemeClr>
          </a:solidFill>
          <a:ln/>
        </p:spPr>
      </p:sp>
      <p:pic>
        <p:nvPicPr>
          <p:cNvPr id="12" name="icon server" descr="server">    </p:cNvPr>
          <p:cNvPicPr>
            <a:picLocks noChangeAspect="1"/>
          </p:cNvPicPr>
          <p:nvPr/>
        </p:nvPicPr>
        <p:blipFill>
          <a:blip r:embed="rId2"/>
          <a:stretch>
            <a:fillRect/>
          </a:stretch>
        </p:blipFill>
        <p:spPr>
          <a:xfrm>
            <a:off x="7232904" y="1746504"/>
            <a:ext cx="256032" cy="256032"/>
          </a:xfrm>
          <a:prstGeom prst="rect">
            <a:avLst/>
          </a:prstGeom>
        </p:spPr>
      </p:pic>
      <p:sp>
        <p:nvSpPr>
          <p:cNvPr id="13" name="Text 9"/>
          <p:cNvSpPr txBox="1"/>
          <p:nvPr/>
        </p:nvSpPr>
        <p:spPr>
          <a:xfrm>
            <a:off x="4572000" y="2286000"/>
            <a:ext cx="3017520" cy="3200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Gateway</a:t>
            </a:r>
            <a:endParaRPr lang="en-US" sz="1600" dirty="0"/>
          </a:p>
        </p:txBody>
      </p:sp>
      <p:sp>
        <p:nvSpPr>
          <p:cNvPr id="14" name="Text 10"/>
          <p:cNvSpPr txBox="1"/>
          <p:nvPr/>
        </p:nvSpPr>
        <p:spPr>
          <a:xfrm>
            <a:off x="4572000" y="2651760"/>
            <a:ext cx="3063240" cy="868680"/>
          </a:xfrm>
          <a:prstGeom prst="rect">
            <a:avLst/>
          </a:prstGeom>
          <a:noFill/>
          <a:ln/>
        </p:spPr>
        <p:txBody>
          <a:bodyPr wrap="square" lIns="0" tIns="0" rIns="0" bIns="0" rtlCol="0" anchor="t"/>
          <a:lstStyle/>
          <a:p>
            <a:pPr indent="0" marL="0">
              <a:buNone/>
            </a:pPr>
            <a:r>
              <a:rPr lang="en-US" sz="1300" dirty="0">
                <a:solidFill>
                  <a:schemeClr val="bg1">
                    <a:alpha val="80000"/>
                  </a:schemeClr>
                </a:solidFill>
                <a:latin typeface="Calibri" pitchFamily="34" charset="0"/>
                <a:ea typeface="Calibri" pitchFamily="34" charset="-122"/>
                <a:cs typeface="Calibri" pitchFamily="34" charset="-120"/>
              </a:rPr>
              <a:t>JWT checked, request validated, token bucket applied. Excess gets 429 and retries with the same key.</a:t>
            </a:r>
            <a:endParaRPr lang="en-US" sz="1300" dirty="0"/>
          </a:p>
        </p:txBody>
      </p:sp>
      <p:sp>
        <p:nvSpPr>
          <p:cNvPr id="15" name="step 3"/>
          <p:cNvSpPr/>
          <p:nvPr/>
        </p:nvSpPr>
        <p:spPr>
          <a:xfrm>
            <a:off x="8046720" y="1417320"/>
            <a:ext cx="3566160" cy="2194560"/>
          </a:xfrm>
          <a:prstGeom prst="roundRect">
            <a:avLst>
              <a:gd name="adj" fmla="val 4167"/>
            </a:avLst>
          </a:prstGeom>
          <a:solidFill>
            <a:schemeClr val="bg1">
              <a:alpha val="7000"/>
            </a:schemeClr>
          </a:solidFill>
          <a:ln w="9525">
            <a:solidFill>
              <a:schemeClr val="bg1">
                <a:alpha val="20000"/>
              </a:schemeClr>
            </a:solidFill>
            <a:prstDash val="solid"/>
          </a:ln>
        </p:spPr>
      </p:sp>
      <p:sp>
        <p:nvSpPr>
          <p:cNvPr id="16" name="Text 12"/>
          <p:cNvSpPr txBox="1"/>
          <p:nvPr/>
        </p:nvSpPr>
        <p:spPr>
          <a:xfrm>
            <a:off x="8321040" y="1645920"/>
            <a:ext cx="548640" cy="502920"/>
          </a:xfrm>
          <a:prstGeom prst="rect">
            <a:avLst/>
          </a:prstGeom>
          <a:noFill/>
          <a:ln/>
        </p:spPr>
        <p:txBody>
          <a:bodyPr wrap="square" lIns="0" tIns="0" rIns="0" bIns="0" rtlCol="0" anchor="ctr"/>
          <a:lstStyle/>
          <a:p>
            <a:pPr indent="0" marL="0">
              <a:buNone/>
            </a:pPr>
            <a:r>
              <a:rPr lang="en-US" sz="3000" b="1" dirty="0">
                <a:solidFill>
                  <a:schemeClr val="accent2"/>
                </a:solidFill>
                <a:latin typeface="Arial" pitchFamily="34" charset="0"/>
                <a:ea typeface="Arial" pitchFamily="34" charset="-122"/>
                <a:cs typeface="Arial" pitchFamily="34" charset="-120"/>
              </a:rPr>
              <a:t>3</a:t>
            </a:r>
            <a:endParaRPr lang="en-US" sz="3000" dirty="0"/>
          </a:p>
        </p:txBody>
      </p:sp>
      <p:sp>
        <p:nvSpPr>
          <p:cNvPr id="17" name="icon tile fingerprint"/>
          <p:cNvSpPr/>
          <p:nvPr/>
        </p:nvSpPr>
        <p:spPr>
          <a:xfrm>
            <a:off x="10881360" y="1645920"/>
            <a:ext cx="457200" cy="457200"/>
          </a:xfrm>
          <a:prstGeom prst="roundRect">
            <a:avLst>
              <a:gd name="adj" fmla="val 24000"/>
            </a:avLst>
          </a:prstGeom>
          <a:solidFill>
            <a:schemeClr val="bg1">
              <a:alpha val="12000"/>
            </a:schemeClr>
          </a:solidFill>
          <a:ln/>
        </p:spPr>
      </p:sp>
      <p:pic>
        <p:nvPicPr>
          <p:cNvPr id="18" name="icon fingerprint" descr="fingerprint">    </p:cNvPr>
          <p:cNvPicPr>
            <a:picLocks noChangeAspect="1"/>
          </p:cNvPicPr>
          <p:nvPr/>
        </p:nvPicPr>
        <p:blipFill>
          <a:blip r:embed="rId3"/>
          <a:stretch>
            <a:fillRect/>
          </a:stretch>
        </p:blipFill>
        <p:spPr>
          <a:xfrm>
            <a:off x="10981944" y="1746504"/>
            <a:ext cx="256032" cy="256032"/>
          </a:xfrm>
          <a:prstGeom prst="rect">
            <a:avLst/>
          </a:prstGeom>
        </p:spPr>
      </p:pic>
      <p:sp>
        <p:nvSpPr>
          <p:cNvPr id="19" name="Text 14"/>
          <p:cNvSpPr txBox="1"/>
          <p:nvPr/>
        </p:nvSpPr>
        <p:spPr>
          <a:xfrm>
            <a:off x="8321040" y="2286000"/>
            <a:ext cx="3017520" cy="3200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Idempotency and limit</a:t>
            </a:r>
            <a:endParaRPr lang="en-US" sz="1600" dirty="0"/>
          </a:p>
        </p:txBody>
      </p:sp>
      <p:sp>
        <p:nvSpPr>
          <p:cNvPr id="20" name="Text 15"/>
          <p:cNvSpPr txBox="1"/>
          <p:nvPr/>
        </p:nvSpPr>
        <p:spPr>
          <a:xfrm>
            <a:off x="8321040" y="2651760"/>
            <a:ext cx="3063240" cy="868680"/>
          </a:xfrm>
          <a:prstGeom prst="rect">
            <a:avLst/>
          </a:prstGeom>
          <a:noFill/>
          <a:ln/>
        </p:spPr>
        <p:txBody>
          <a:bodyPr wrap="square" lIns="0" tIns="0" rIns="0" bIns="0" rtlCol="0" anchor="t"/>
          <a:lstStyle/>
          <a:p>
            <a:pPr indent="0" marL="0">
              <a:buNone/>
            </a:pPr>
            <a:r>
              <a:rPr lang="en-US" sz="1300" dirty="0">
                <a:solidFill>
                  <a:schemeClr val="bg1">
                    <a:alpha val="80000"/>
                  </a:schemeClr>
                </a:solidFill>
                <a:latin typeface="Calibri" pitchFamily="34" charset="0"/>
                <a:ea typeface="Calibri" pitchFamily="34" charset="-122"/>
                <a:cs typeface="Calibri" pitchFamily="34" charset="-120"/>
              </a:rPr>
              <a:t>Double clicks collapse into the first request. One active hold per customer.</a:t>
            </a:r>
            <a:endParaRPr lang="en-US" sz="1300" dirty="0"/>
          </a:p>
        </p:txBody>
      </p:sp>
      <p:sp>
        <p:nvSpPr>
          <p:cNvPr id="21" name="step 4"/>
          <p:cNvSpPr/>
          <p:nvPr/>
        </p:nvSpPr>
        <p:spPr>
          <a:xfrm>
            <a:off x="548640" y="3794760"/>
            <a:ext cx="3566160" cy="2194560"/>
          </a:xfrm>
          <a:prstGeom prst="roundRect">
            <a:avLst>
              <a:gd name="adj" fmla="val 4167"/>
            </a:avLst>
          </a:prstGeom>
          <a:solidFill>
            <a:schemeClr val="bg1">
              <a:alpha val="7000"/>
            </a:schemeClr>
          </a:solidFill>
          <a:ln w="9525">
            <a:solidFill>
              <a:schemeClr val="bg1">
                <a:alpha val="20000"/>
              </a:schemeClr>
            </a:solidFill>
            <a:prstDash val="solid"/>
          </a:ln>
        </p:spPr>
      </p:sp>
      <p:sp>
        <p:nvSpPr>
          <p:cNvPr id="22" name="Text 17"/>
          <p:cNvSpPr txBox="1"/>
          <p:nvPr/>
        </p:nvSpPr>
        <p:spPr>
          <a:xfrm>
            <a:off x="822960" y="4023360"/>
            <a:ext cx="548640" cy="502920"/>
          </a:xfrm>
          <a:prstGeom prst="rect">
            <a:avLst/>
          </a:prstGeom>
          <a:noFill/>
          <a:ln/>
        </p:spPr>
        <p:txBody>
          <a:bodyPr wrap="square" lIns="0" tIns="0" rIns="0" bIns="0" rtlCol="0" anchor="ctr"/>
          <a:lstStyle/>
          <a:p>
            <a:pPr indent="0" marL="0">
              <a:buNone/>
            </a:pPr>
            <a:r>
              <a:rPr lang="en-US" sz="3000" b="1" dirty="0">
                <a:solidFill>
                  <a:schemeClr val="accent2"/>
                </a:solidFill>
                <a:latin typeface="Arial" pitchFamily="34" charset="0"/>
                <a:ea typeface="Arial" pitchFamily="34" charset="-122"/>
                <a:cs typeface="Arial" pitchFamily="34" charset="-120"/>
              </a:rPr>
              <a:t>4</a:t>
            </a:r>
            <a:endParaRPr lang="en-US" sz="3000" dirty="0"/>
          </a:p>
        </p:txBody>
      </p:sp>
      <p:sp>
        <p:nvSpPr>
          <p:cNvPr id="23" name="icon tile filter"/>
          <p:cNvSpPr/>
          <p:nvPr/>
        </p:nvSpPr>
        <p:spPr>
          <a:xfrm>
            <a:off x="3383280" y="4023360"/>
            <a:ext cx="457200" cy="457200"/>
          </a:xfrm>
          <a:prstGeom prst="roundRect">
            <a:avLst>
              <a:gd name="adj" fmla="val 24000"/>
            </a:avLst>
          </a:prstGeom>
          <a:solidFill>
            <a:schemeClr val="bg1">
              <a:alpha val="12000"/>
            </a:schemeClr>
          </a:solidFill>
          <a:ln/>
        </p:spPr>
      </p:sp>
      <p:pic>
        <p:nvPicPr>
          <p:cNvPr id="24" name="icon filter" descr="filter">    </p:cNvPr>
          <p:cNvPicPr>
            <a:picLocks noChangeAspect="1"/>
          </p:cNvPicPr>
          <p:nvPr/>
        </p:nvPicPr>
        <p:blipFill>
          <a:blip r:embed="rId4"/>
          <a:stretch>
            <a:fillRect/>
          </a:stretch>
        </p:blipFill>
        <p:spPr>
          <a:xfrm>
            <a:off x="3483864" y="4123944"/>
            <a:ext cx="256032" cy="256032"/>
          </a:xfrm>
          <a:prstGeom prst="rect">
            <a:avLst/>
          </a:prstGeom>
        </p:spPr>
      </p:pic>
      <p:sp>
        <p:nvSpPr>
          <p:cNvPr id="25" name="Text 19"/>
          <p:cNvSpPr txBox="1"/>
          <p:nvPr/>
        </p:nvSpPr>
        <p:spPr>
          <a:xfrm>
            <a:off x="822960" y="4663440"/>
            <a:ext cx="3017520" cy="3200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Redis gate</a:t>
            </a:r>
            <a:endParaRPr lang="en-US" sz="1600" dirty="0"/>
          </a:p>
        </p:txBody>
      </p:sp>
      <p:sp>
        <p:nvSpPr>
          <p:cNvPr id="26" name="Text 20"/>
          <p:cNvSpPr txBox="1"/>
          <p:nvPr/>
        </p:nvSpPr>
        <p:spPr>
          <a:xfrm>
            <a:off x="822960" y="5029200"/>
            <a:ext cx="3063240" cy="868680"/>
          </a:xfrm>
          <a:prstGeom prst="rect">
            <a:avLst/>
          </a:prstGeom>
          <a:noFill/>
          <a:ln/>
        </p:spPr>
        <p:txBody>
          <a:bodyPr wrap="square" lIns="0" tIns="0" rIns="0" bIns="0" rtlCol="0" anchor="t"/>
          <a:lstStyle/>
          <a:p>
            <a:pPr indent="0" marL="0">
              <a:buNone/>
            </a:pPr>
            <a:r>
              <a:rPr lang="en-US" sz="1300" dirty="0">
                <a:solidFill>
                  <a:schemeClr val="bg1">
                    <a:alpha val="80000"/>
                  </a:schemeClr>
                </a:solidFill>
                <a:latin typeface="Calibri" pitchFamily="34" charset="0"/>
                <a:ea typeface="Calibri" pitchFamily="34" charset="-122"/>
                <a:cs typeface="Calibri" pitchFamily="34" charset="-120"/>
              </a:rPr>
              <a:t>The first ~100 take a token. Everyone else hears "sold out" from memory in about a millisecond.</a:t>
            </a:r>
            <a:endParaRPr lang="en-US" sz="1300" dirty="0"/>
          </a:p>
        </p:txBody>
      </p:sp>
      <p:sp>
        <p:nvSpPr>
          <p:cNvPr id="27" name="step 5"/>
          <p:cNvSpPr/>
          <p:nvPr/>
        </p:nvSpPr>
        <p:spPr>
          <a:xfrm>
            <a:off x="4297680" y="3794760"/>
            <a:ext cx="3566160" cy="2194560"/>
          </a:xfrm>
          <a:prstGeom prst="roundRect">
            <a:avLst>
              <a:gd name="adj" fmla="val 4167"/>
            </a:avLst>
          </a:prstGeom>
          <a:solidFill>
            <a:schemeClr val="bg1">
              <a:alpha val="7000"/>
            </a:schemeClr>
          </a:solidFill>
          <a:ln w="9525">
            <a:solidFill>
              <a:schemeClr val="bg1">
                <a:alpha val="20000"/>
              </a:schemeClr>
            </a:solidFill>
            <a:prstDash val="solid"/>
          </a:ln>
        </p:spPr>
      </p:sp>
      <p:sp>
        <p:nvSpPr>
          <p:cNvPr id="28" name="Text 22"/>
          <p:cNvSpPr txBox="1"/>
          <p:nvPr/>
        </p:nvSpPr>
        <p:spPr>
          <a:xfrm>
            <a:off x="4572000" y="4023360"/>
            <a:ext cx="548640" cy="502920"/>
          </a:xfrm>
          <a:prstGeom prst="rect">
            <a:avLst/>
          </a:prstGeom>
          <a:noFill/>
          <a:ln/>
        </p:spPr>
        <p:txBody>
          <a:bodyPr wrap="square" lIns="0" tIns="0" rIns="0" bIns="0" rtlCol="0" anchor="ctr"/>
          <a:lstStyle/>
          <a:p>
            <a:pPr indent="0" marL="0">
              <a:buNone/>
            </a:pPr>
            <a:r>
              <a:rPr lang="en-US" sz="3000" b="1" dirty="0">
                <a:solidFill>
                  <a:schemeClr val="accent2"/>
                </a:solidFill>
                <a:latin typeface="Arial" pitchFamily="34" charset="0"/>
                <a:ea typeface="Arial" pitchFamily="34" charset="-122"/>
                <a:cs typeface="Arial" pitchFamily="34" charset="-120"/>
              </a:rPr>
              <a:t>5</a:t>
            </a:r>
            <a:endParaRPr lang="en-US" sz="3000" dirty="0"/>
          </a:p>
        </p:txBody>
      </p:sp>
      <p:sp>
        <p:nvSpPr>
          <p:cNvPr id="29" name="icon tile database"/>
          <p:cNvSpPr/>
          <p:nvPr/>
        </p:nvSpPr>
        <p:spPr>
          <a:xfrm>
            <a:off x="7132320" y="4023360"/>
            <a:ext cx="457200" cy="457200"/>
          </a:xfrm>
          <a:prstGeom prst="roundRect">
            <a:avLst>
              <a:gd name="adj" fmla="val 24000"/>
            </a:avLst>
          </a:prstGeom>
          <a:solidFill>
            <a:schemeClr val="bg1">
              <a:alpha val="12000"/>
            </a:schemeClr>
          </a:solidFill>
          <a:ln/>
        </p:spPr>
      </p:sp>
      <p:pic>
        <p:nvPicPr>
          <p:cNvPr id="30" name="icon database" descr="database">    </p:cNvPr>
          <p:cNvPicPr>
            <a:picLocks noChangeAspect="1"/>
          </p:cNvPicPr>
          <p:nvPr/>
        </p:nvPicPr>
        <p:blipFill>
          <a:blip r:embed="rId5"/>
          <a:stretch>
            <a:fillRect/>
          </a:stretch>
        </p:blipFill>
        <p:spPr>
          <a:xfrm>
            <a:off x="7232904" y="4123944"/>
            <a:ext cx="256032" cy="256032"/>
          </a:xfrm>
          <a:prstGeom prst="rect">
            <a:avLst/>
          </a:prstGeom>
        </p:spPr>
      </p:pic>
      <p:sp>
        <p:nvSpPr>
          <p:cNvPr id="31" name="Text 24"/>
          <p:cNvSpPr txBox="1"/>
          <p:nvPr/>
        </p:nvSpPr>
        <p:spPr>
          <a:xfrm>
            <a:off x="4572000" y="4663440"/>
            <a:ext cx="3017520" cy="3200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Database guard</a:t>
            </a:r>
            <a:endParaRPr lang="en-US" sz="1600" dirty="0"/>
          </a:p>
        </p:txBody>
      </p:sp>
      <p:sp>
        <p:nvSpPr>
          <p:cNvPr id="32" name="Text 25"/>
          <p:cNvSpPr txBox="1"/>
          <p:nvPr/>
        </p:nvSpPr>
        <p:spPr>
          <a:xfrm>
            <a:off x="4572000" y="5029200"/>
            <a:ext cx="3063240" cy="868680"/>
          </a:xfrm>
          <a:prstGeom prst="rect">
            <a:avLst/>
          </a:prstGeom>
          <a:noFill/>
          <a:ln/>
        </p:spPr>
        <p:txBody>
          <a:bodyPr wrap="square" lIns="0" tIns="0" rIns="0" bIns="0" rtlCol="0" anchor="t"/>
          <a:lstStyle/>
          <a:p>
            <a:pPr indent="0" marL="0">
              <a:buNone/>
            </a:pPr>
            <a:r>
              <a:rPr lang="en-US" sz="1300" dirty="0">
                <a:solidFill>
                  <a:schemeClr val="bg1">
                    <a:alpha val="80000"/>
                  </a:schemeClr>
                </a:solidFill>
                <a:latin typeface="Calibri" pitchFamily="34" charset="0"/>
                <a:ea typeface="Calibri" pitchFamily="34" charset="-122"/>
                <a:cs typeface="Calibri" pitchFamily="34" charset="-120"/>
              </a:rPr>
              <a:t>Conditional UPDATE, reservation and outbox event in one transaction. The last unit goes to exactly one buyer.</a:t>
            </a:r>
            <a:endParaRPr lang="en-US" sz="1300" dirty="0"/>
          </a:p>
        </p:txBody>
      </p:sp>
      <p:sp>
        <p:nvSpPr>
          <p:cNvPr id="33" name="step 6"/>
          <p:cNvSpPr/>
          <p:nvPr/>
        </p:nvSpPr>
        <p:spPr>
          <a:xfrm>
            <a:off x="8046720" y="3794760"/>
            <a:ext cx="3566160" cy="2194560"/>
          </a:xfrm>
          <a:prstGeom prst="roundRect">
            <a:avLst>
              <a:gd name="adj" fmla="val 4167"/>
            </a:avLst>
          </a:prstGeom>
          <a:solidFill>
            <a:schemeClr val="bg1">
              <a:alpha val="7000"/>
            </a:schemeClr>
          </a:solidFill>
          <a:ln w="9525">
            <a:solidFill>
              <a:schemeClr val="bg1">
                <a:alpha val="20000"/>
              </a:schemeClr>
            </a:solidFill>
            <a:prstDash val="solid"/>
          </a:ln>
        </p:spPr>
      </p:sp>
      <p:sp>
        <p:nvSpPr>
          <p:cNvPr id="34" name="Text 27"/>
          <p:cNvSpPr txBox="1"/>
          <p:nvPr/>
        </p:nvSpPr>
        <p:spPr>
          <a:xfrm>
            <a:off x="8321040" y="4023360"/>
            <a:ext cx="548640" cy="502920"/>
          </a:xfrm>
          <a:prstGeom prst="rect">
            <a:avLst/>
          </a:prstGeom>
          <a:noFill/>
          <a:ln/>
        </p:spPr>
        <p:txBody>
          <a:bodyPr wrap="square" lIns="0" tIns="0" rIns="0" bIns="0" rtlCol="0" anchor="ctr"/>
          <a:lstStyle/>
          <a:p>
            <a:pPr indent="0" marL="0">
              <a:buNone/>
            </a:pPr>
            <a:r>
              <a:rPr lang="en-US" sz="3000" b="1" dirty="0">
                <a:solidFill>
                  <a:schemeClr val="accent2"/>
                </a:solidFill>
                <a:latin typeface="Arial" pitchFamily="34" charset="0"/>
                <a:ea typeface="Arial" pitchFamily="34" charset="-122"/>
                <a:cs typeface="Arial" pitchFamily="34" charset="-120"/>
              </a:rPr>
              <a:t>6</a:t>
            </a:r>
            <a:endParaRPr lang="en-US" sz="3000" dirty="0"/>
          </a:p>
        </p:txBody>
      </p:sp>
      <p:sp>
        <p:nvSpPr>
          <p:cNvPr id="35" name="icon tile package-check"/>
          <p:cNvSpPr/>
          <p:nvPr/>
        </p:nvSpPr>
        <p:spPr>
          <a:xfrm>
            <a:off x="10881360" y="4023360"/>
            <a:ext cx="457200" cy="457200"/>
          </a:xfrm>
          <a:prstGeom prst="roundRect">
            <a:avLst>
              <a:gd name="adj" fmla="val 24000"/>
            </a:avLst>
          </a:prstGeom>
          <a:solidFill>
            <a:schemeClr val="bg1">
              <a:alpha val="12000"/>
            </a:schemeClr>
          </a:solidFill>
          <a:ln/>
        </p:spPr>
      </p:sp>
      <p:pic>
        <p:nvPicPr>
          <p:cNvPr id="36" name="icon package-check" descr="package check">    </p:cNvPr>
          <p:cNvPicPr>
            <a:picLocks noChangeAspect="1"/>
          </p:cNvPicPr>
          <p:nvPr/>
        </p:nvPicPr>
        <p:blipFill>
          <a:blip r:embed="rId6"/>
          <a:stretch>
            <a:fillRect/>
          </a:stretch>
        </p:blipFill>
        <p:spPr>
          <a:xfrm>
            <a:off x="10981944" y="4123944"/>
            <a:ext cx="256032" cy="256032"/>
          </a:xfrm>
          <a:prstGeom prst="rect">
            <a:avLst/>
          </a:prstGeom>
        </p:spPr>
      </p:pic>
      <p:sp>
        <p:nvSpPr>
          <p:cNvPr id="37" name="Text 29"/>
          <p:cNvSpPr txBox="1"/>
          <p:nvPr/>
        </p:nvSpPr>
        <p:spPr>
          <a:xfrm>
            <a:off x="8321040" y="4663440"/>
            <a:ext cx="3017520" cy="3200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Pay, then orders</a:t>
            </a:r>
            <a:endParaRPr lang="en-US" sz="1600" dirty="0"/>
          </a:p>
        </p:txBody>
      </p:sp>
      <p:sp>
        <p:nvSpPr>
          <p:cNvPr id="38" name="Text 30"/>
          <p:cNvSpPr txBox="1"/>
          <p:nvPr/>
        </p:nvSpPr>
        <p:spPr>
          <a:xfrm>
            <a:off x="8321040" y="5029200"/>
            <a:ext cx="3063240" cy="868680"/>
          </a:xfrm>
          <a:prstGeom prst="rect">
            <a:avLst/>
          </a:prstGeom>
          <a:noFill/>
          <a:ln/>
        </p:spPr>
        <p:txBody>
          <a:bodyPr wrap="square" lIns="0" tIns="0" rIns="0" bIns="0" rtlCol="0" anchor="t"/>
          <a:lstStyle/>
          <a:p>
            <a:pPr indent="0" marL="0">
              <a:buNone/>
            </a:pPr>
            <a:r>
              <a:rPr lang="en-US" sz="1300" dirty="0">
                <a:solidFill>
                  <a:schemeClr val="bg1">
                    <a:alpha val="80000"/>
                  </a:schemeClr>
                </a:solidFill>
                <a:latin typeface="Calibri" pitchFamily="34" charset="0"/>
                <a:ea typeface="Calibri" pitchFamily="34" charset="-122"/>
                <a:cs typeface="Calibri" pitchFamily="34" charset="-120"/>
              </a:rPr>
              <a:t>Payment by key through a circuit breaker. Events confirm stock and orders. Sold ≤ 100, every payment has one order.</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BB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85800" y="1965960"/>
            <a:ext cx="6035040" cy="1188720"/>
          </a:xfrm>
          <a:prstGeom prst="rect">
            <a:avLst/>
          </a:prstGeom>
          <a:noFill/>
          <a:ln/>
        </p:spPr>
        <p:txBody>
          <a:bodyPr wrap="square" lIns="0" tIns="0" rIns="0" bIns="0" rtlCol="0" anchor="b"/>
          <a:lstStyle/>
          <a:p>
            <a:pPr algn="l" indent="0" marL="0">
              <a:buNone/>
            </a:pPr>
            <a:r>
              <a:rPr lang="en-US" sz="5400" b="1" dirty="0">
                <a:solidFill>
                  <a:schemeClr val="bg1"/>
                </a:solidFill>
                <a:latin typeface="Arial" pitchFamily="34" charset="0"/>
                <a:ea typeface="Arial" pitchFamily="34" charset="-122"/>
                <a:cs typeface="Arial" pitchFamily="34" charset="-120"/>
              </a:rPr>
              <a:t>Thank you</a:t>
            </a:r>
            <a:endParaRPr lang="en-US" sz="5400" dirty="0"/>
          </a:p>
        </p:txBody>
      </p:sp>
      <p:sp>
        <p:nvSpPr>
          <p:cNvPr id="3" name="Text 0"/>
          <p:cNvSpPr/>
          <p:nvPr>
            <p:ph idx="101" type="body" hasCustomPrompt="1"/>
          </p:nvPr>
        </p:nvSpPr>
        <p:spPr>
          <a:xfrm>
            <a:off x="685800" y="3291840"/>
            <a:ext cx="5852160" cy="1097280"/>
          </a:xfrm>
          <a:prstGeom prst="rect">
            <a:avLst/>
          </a:prstGeom>
          <a:noFill/>
          <a:ln/>
        </p:spPr>
        <p:txBody>
          <a:bodyPr wrap="square" lIns="0" tIns="0" rIns="0" bIns="0" rtlCol="0" anchor="t"/>
          <a:lstStyle/>
          <a:p>
            <a:pPr algn="l" indent="0" marL="0">
              <a:buNone/>
            </a:pPr>
            <a:r>
              <a:rPr lang="en-US" sz="2000" dirty="0">
                <a:solidFill>
                  <a:schemeClr val="bg1"/>
                </a:solidFill>
                <a:latin typeface="Calibri" pitchFamily="34" charset="0"/>
                <a:ea typeface="Calibri" pitchFamily="34" charset="-122"/>
                <a:cs typeface="Calibri" pitchFamily="34" charset="-120"/>
              </a:rPr>
              <a:t>Every transaction correct, under any load, through any failure.</a:t>
            </a:r>
            <a:endParaRPr lang="en-US" sz="2000" dirty="0"/>
          </a:p>
        </p:txBody>
      </p:sp>
      <p:sp>
        <p:nvSpPr>
          <p:cNvPr id="4" name="Text 2"/>
          <p:cNvSpPr txBox="1"/>
          <p:nvPr/>
        </p:nvSpPr>
        <p:spPr>
          <a:xfrm>
            <a:off x="7315200" y="1463040"/>
            <a:ext cx="4297680" cy="41148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Team NullPointer</a:t>
            </a:r>
            <a:endParaRPr lang="en-US" sz="1800" dirty="0"/>
          </a:p>
        </p:txBody>
      </p:sp>
      <p:sp>
        <p:nvSpPr>
          <p:cNvPr id="5" name="icon tile network"/>
          <p:cNvSpPr/>
          <p:nvPr/>
        </p:nvSpPr>
        <p:spPr>
          <a:xfrm>
            <a:off x="7315200" y="2103120"/>
            <a:ext cx="548640" cy="548640"/>
          </a:xfrm>
          <a:prstGeom prst="roundRect">
            <a:avLst>
              <a:gd name="adj" fmla="val 20000"/>
            </a:avLst>
          </a:prstGeom>
          <a:solidFill>
            <a:schemeClr val="bg1">
              <a:alpha val="12000"/>
            </a:schemeClr>
          </a:solidFill>
          <a:ln/>
        </p:spPr>
      </p:sp>
      <p:pic>
        <p:nvPicPr>
          <p:cNvPr id="6" name="icon network" descr="network">    </p:cNvPr>
          <p:cNvPicPr>
            <a:picLocks noChangeAspect="1"/>
          </p:cNvPicPr>
          <p:nvPr/>
        </p:nvPicPr>
        <p:blipFill>
          <a:blip r:embed="rId1"/>
          <a:stretch>
            <a:fillRect/>
          </a:stretch>
        </p:blipFill>
        <p:spPr>
          <a:xfrm>
            <a:off x="7435901" y="2223821"/>
            <a:ext cx="307238" cy="307238"/>
          </a:xfrm>
          <a:prstGeom prst="rect">
            <a:avLst/>
          </a:prstGeom>
        </p:spPr>
      </p:pic>
      <p:sp>
        <p:nvSpPr>
          <p:cNvPr id="7" name="Text 4"/>
          <p:cNvSpPr txBox="1"/>
          <p:nvPr/>
        </p:nvSpPr>
        <p:spPr>
          <a:xfrm>
            <a:off x="8046720" y="2121408"/>
            <a:ext cx="3566160" cy="292608"/>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System architect</a:t>
            </a:r>
            <a:endParaRPr lang="en-US" sz="1500" dirty="0"/>
          </a:p>
        </p:txBody>
      </p:sp>
      <p:sp>
        <p:nvSpPr>
          <p:cNvPr id="8" name="Text 5"/>
          <p:cNvSpPr txBox="1"/>
          <p:nvPr/>
        </p:nvSpPr>
        <p:spPr>
          <a:xfrm>
            <a:off x="8046720" y="2414016"/>
            <a:ext cx="3566160" cy="274320"/>
          </a:xfrm>
          <a:prstGeom prst="rect">
            <a:avLst/>
          </a:prstGeom>
          <a:noFill/>
          <a:ln/>
        </p:spPr>
        <p:txBody>
          <a:bodyPr wrap="square" lIns="0" tIns="0" rIns="0" bIns="0" rtlCol="0" anchor="t"/>
          <a:lstStyle/>
          <a:p>
            <a:pPr indent="0" marL="0">
              <a:buNone/>
            </a:pPr>
            <a:r>
              <a:rPr lang="en-US" sz="1300" dirty="0">
                <a:solidFill>
                  <a:schemeClr val="bg1">
                    <a:alpha val="70000"/>
                  </a:schemeClr>
                </a:solidFill>
                <a:latin typeface="Calibri" pitchFamily="34" charset="0"/>
                <a:ea typeface="Calibri" pitchFamily="34" charset="-122"/>
                <a:cs typeface="Calibri" pitchFamily="34" charset="-120"/>
              </a:rPr>
              <a:t>HLD, scalability, deployment</a:t>
            </a:r>
            <a:endParaRPr lang="en-US" sz="1300" dirty="0"/>
          </a:p>
        </p:txBody>
      </p:sp>
      <p:sp>
        <p:nvSpPr>
          <p:cNvPr id="9" name="icon tile git-fork"/>
          <p:cNvSpPr/>
          <p:nvPr/>
        </p:nvSpPr>
        <p:spPr>
          <a:xfrm>
            <a:off x="7315200" y="3035808"/>
            <a:ext cx="548640" cy="548640"/>
          </a:xfrm>
          <a:prstGeom prst="roundRect">
            <a:avLst>
              <a:gd name="adj" fmla="val 20000"/>
            </a:avLst>
          </a:prstGeom>
          <a:solidFill>
            <a:schemeClr val="bg1">
              <a:alpha val="12000"/>
            </a:schemeClr>
          </a:solidFill>
          <a:ln/>
        </p:spPr>
      </p:sp>
      <p:pic>
        <p:nvPicPr>
          <p:cNvPr id="10" name="icon git-fork" descr="git fork">    </p:cNvPr>
          <p:cNvPicPr>
            <a:picLocks noChangeAspect="1"/>
          </p:cNvPicPr>
          <p:nvPr/>
        </p:nvPicPr>
        <p:blipFill>
          <a:blip r:embed="rId2"/>
          <a:stretch>
            <a:fillRect/>
          </a:stretch>
        </p:blipFill>
        <p:spPr>
          <a:xfrm>
            <a:off x="7435901" y="3156509"/>
            <a:ext cx="307238" cy="307238"/>
          </a:xfrm>
          <a:prstGeom prst="rect">
            <a:avLst/>
          </a:prstGeom>
        </p:spPr>
      </p:pic>
      <p:sp>
        <p:nvSpPr>
          <p:cNvPr id="11" name="Text 7"/>
          <p:cNvSpPr txBox="1"/>
          <p:nvPr/>
        </p:nvSpPr>
        <p:spPr>
          <a:xfrm>
            <a:off x="8046720" y="3054096"/>
            <a:ext cx="3566160" cy="292608"/>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LLD &amp; design engineer</a:t>
            </a:r>
            <a:endParaRPr lang="en-US" sz="1500" dirty="0"/>
          </a:p>
        </p:txBody>
      </p:sp>
      <p:sp>
        <p:nvSpPr>
          <p:cNvPr id="12" name="Text 8"/>
          <p:cNvSpPr txBox="1"/>
          <p:nvPr/>
        </p:nvSpPr>
        <p:spPr>
          <a:xfrm>
            <a:off x="8046720" y="3346704"/>
            <a:ext cx="3566160" cy="274320"/>
          </a:xfrm>
          <a:prstGeom prst="rect">
            <a:avLst/>
          </a:prstGeom>
          <a:noFill/>
          <a:ln/>
        </p:spPr>
        <p:txBody>
          <a:bodyPr wrap="square" lIns="0" tIns="0" rIns="0" bIns="0" rtlCol="0" anchor="t"/>
          <a:lstStyle/>
          <a:p>
            <a:pPr indent="0" marL="0">
              <a:buNone/>
            </a:pPr>
            <a:r>
              <a:rPr lang="en-US" sz="1300" dirty="0">
                <a:solidFill>
                  <a:schemeClr val="bg1">
                    <a:alpha val="70000"/>
                  </a:schemeClr>
                </a:solidFill>
                <a:latin typeface="Calibri" pitchFamily="34" charset="0"/>
                <a:ea typeface="Calibri" pitchFamily="34" charset="-122"/>
                <a:cs typeface="Calibri" pitchFamily="34" charset="-120"/>
              </a:rPr>
              <a:t>LLD, SOLID, UML, patterns</a:t>
            </a:r>
            <a:endParaRPr lang="en-US" sz="1300" dirty="0"/>
          </a:p>
        </p:txBody>
      </p:sp>
      <p:sp>
        <p:nvSpPr>
          <p:cNvPr id="13" name="icon tile database"/>
          <p:cNvSpPr/>
          <p:nvPr/>
        </p:nvSpPr>
        <p:spPr>
          <a:xfrm>
            <a:off x="7315200" y="3968496"/>
            <a:ext cx="548640" cy="548640"/>
          </a:xfrm>
          <a:prstGeom prst="roundRect">
            <a:avLst>
              <a:gd name="adj" fmla="val 20000"/>
            </a:avLst>
          </a:prstGeom>
          <a:solidFill>
            <a:schemeClr val="bg1">
              <a:alpha val="12000"/>
            </a:schemeClr>
          </a:solidFill>
          <a:ln/>
        </p:spPr>
      </p:sp>
      <p:pic>
        <p:nvPicPr>
          <p:cNvPr id="14" name="icon database" descr="database">    </p:cNvPr>
          <p:cNvPicPr>
            <a:picLocks noChangeAspect="1"/>
          </p:cNvPicPr>
          <p:nvPr/>
        </p:nvPicPr>
        <p:blipFill>
          <a:blip r:embed="rId3"/>
          <a:stretch>
            <a:fillRect/>
          </a:stretch>
        </p:blipFill>
        <p:spPr>
          <a:xfrm>
            <a:off x="7435901" y="4089197"/>
            <a:ext cx="307238" cy="307238"/>
          </a:xfrm>
          <a:prstGeom prst="rect">
            <a:avLst/>
          </a:prstGeom>
        </p:spPr>
      </p:pic>
      <p:sp>
        <p:nvSpPr>
          <p:cNvPr id="15" name="Text 10"/>
          <p:cNvSpPr txBox="1"/>
          <p:nvPr/>
        </p:nvSpPr>
        <p:spPr>
          <a:xfrm>
            <a:off x="8046720" y="3986784"/>
            <a:ext cx="3566160" cy="292608"/>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Data &amp; API engineer</a:t>
            </a:r>
            <a:endParaRPr lang="en-US" sz="1500" dirty="0"/>
          </a:p>
        </p:txBody>
      </p:sp>
      <p:sp>
        <p:nvSpPr>
          <p:cNvPr id="16" name="Text 11"/>
          <p:cNvSpPr txBox="1"/>
          <p:nvPr/>
        </p:nvSpPr>
        <p:spPr>
          <a:xfrm>
            <a:off x="8046720" y="4279392"/>
            <a:ext cx="3566160" cy="274320"/>
          </a:xfrm>
          <a:prstGeom prst="rect">
            <a:avLst/>
          </a:prstGeom>
          <a:noFill/>
          <a:ln/>
        </p:spPr>
        <p:txBody>
          <a:bodyPr wrap="square" lIns="0" tIns="0" rIns="0" bIns="0" rtlCol="0" anchor="t"/>
          <a:lstStyle/>
          <a:p>
            <a:pPr indent="0" marL="0">
              <a:buNone/>
            </a:pPr>
            <a:r>
              <a:rPr lang="en-US" sz="1300" dirty="0">
                <a:solidFill>
                  <a:schemeClr val="bg1">
                    <a:alpha val="70000"/>
                  </a:schemeClr>
                </a:solidFill>
                <a:latin typeface="Calibri" pitchFamily="34" charset="0"/>
                <a:ea typeface="Calibri" pitchFamily="34" charset="-122"/>
                <a:cs typeface="Calibri" pitchFamily="34" charset="-120"/>
              </a:rPr>
              <a:t>Database, APIs, events</a:t>
            </a:r>
            <a:endParaRPr lang="en-US" sz="1300" dirty="0"/>
          </a:p>
        </p:txBody>
      </p:sp>
      <p:sp>
        <p:nvSpPr>
          <p:cNvPr id="17" name="icon tile shield-check"/>
          <p:cNvSpPr/>
          <p:nvPr/>
        </p:nvSpPr>
        <p:spPr>
          <a:xfrm>
            <a:off x="7315200" y="4901184"/>
            <a:ext cx="548640" cy="548640"/>
          </a:xfrm>
          <a:prstGeom prst="roundRect">
            <a:avLst>
              <a:gd name="adj" fmla="val 20000"/>
            </a:avLst>
          </a:prstGeom>
          <a:solidFill>
            <a:schemeClr val="bg1">
              <a:alpha val="12000"/>
            </a:schemeClr>
          </a:solidFill>
          <a:ln/>
        </p:spPr>
      </p:sp>
      <p:pic>
        <p:nvPicPr>
          <p:cNvPr id="18" name="icon shield-check" descr="shield check">    </p:cNvPr>
          <p:cNvPicPr>
            <a:picLocks noChangeAspect="1"/>
          </p:cNvPicPr>
          <p:nvPr/>
        </p:nvPicPr>
        <p:blipFill>
          <a:blip r:embed="rId4"/>
          <a:stretch>
            <a:fillRect/>
          </a:stretch>
        </p:blipFill>
        <p:spPr>
          <a:xfrm>
            <a:off x="7435901" y="5021885"/>
            <a:ext cx="307238" cy="307238"/>
          </a:xfrm>
          <a:prstGeom prst="rect">
            <a:avLst/>
          </a:prstGeom>
        </p:spPr>
      </p:pic>
      <p:sp>
        <p:nvSpPr>
          <p:cNvPr id="19" name="Text 13"/>
          <p:cNvSpPr txBox="1"/>
          <p:nvPr/>
        </p:nvSpPr>
        <p:spPr>
          <a:xfrm>
            <a:off x="8046720" y="4919472"/>
            <a:ext cx="3566160" cy="292608"/>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Reliability engineer</a:t>
            </a:r>
            <a:endParaRPr lang="en-US" sz="1500" dirty="0"/>
          </a:p>
        </p:txBody>
      </p:sp>
      <p:sp>
        <p:nvSpPr>
          <p:cNvPr id="20" name="Text 14"/>
          <p:cNvSpPr txBox="1"/>
          <p:nvPr/>
        </p:nvSpPr>
        <p:spPr>
          <a:xfrm>
            <a:off x="8046720" y="5212080"/>
            <a:ext cx="3566160" cy="274320"/>
          </a:xfrm>
          <a:prstGeom prst="rect">
            <a:avLst/>
          </a:prstGeom>
          <a:noFill/>
          <a:ln/>
        </p:spPr>
        <p:txBody>
          <a:bodyPr wrap="square" lIns="0" tIns="0" rIns="0" bIns="0" rtlCol="0" anchor="t"/>
          <a:lstStyle/>
          <a:p>
            <a:pPr indent="0" marL="0">
              <a:buNone/>
            </a:pPr>
            <a:r>
              <a:rPr lang="en-US" sz="1300" dirty="0">
                <a:solidFill>
                  <a:schemeClr val="bg1">
                    <a:alpha val="70000"/>
                  </a:schemeClr>
                </a:solidFill>
                <a:latin typeface="Calibri" pitchFamily="34" charset="0"/>
                <a:ea typeface="Calibri" pitchFamily="34" charset="-122"/>
                <a:cs typeface="Calibri" pitchFamily="34" charset="-120"/>
              </a:rPr>
              <a:t>Concurrency, failures, security</a:t>
            </a:r>
            <a:endParaRPr lang="en-US" sz="1300" dirty="0"/>
          </a:p>
        </p:txBody>
      </p:sp>
      <p:sp>
        <p:nvSpPr>
          <p:cNvPr id="21" name="Text 15"/>
          <p:cNvSpPr txBox="1"/>
          <p:nvPr/>
        </p:nvSpPr>
        <p:spPr>
          <a:xfrm>
            <a:off x="685800" y="4617720"/>
            <a:ext cx="5852160" cy="365760"/>
          </a:xfrm>
          <a:prstGeom prst="rect">
            <a:avLst/>
          </a:prstGeom>
          <a:noFill/>
          <a:ln/>
        </p:spPr>
        <p:txBody>
          <a:bodyPr wrap="square" lIns="0" tIns="0" rIns="0" bIns="0" rtlCol="0" anchor="t"/>
          <a:lstStyle/>
          <a:p>
            <a:pPr indent="0" marL="0">
              <a:buNone/>
            </a:pPr>
            <a:r>
              <a:rPr lang="en-US" sz="1400" dirty="0">
                <a:solidFill>
                  <a:schemeClr val="bg1">
                    <a:alpha val="70000"/>
                  </a:schemeClr>
                </a:solidFill>
                <a:latin typeface="Calibri" pitchFamily="34" charset="0"/>
                <a:ea typeface="Calibri" pitchFamily="34" charset="-122"/>
                <a:cs typeface="Calibri" pitchFamily="34" charset="-120"/>
              </a:rPr>
              <a:t>Questions welcome. Live dashboard and full blueprint in the submission folder.</a:t>
            </a:r>
            <a:endParaRPr lang="en-US" sz="1400" dirty="0"/>
          </a:p>
        </p:txBody>
      </p:sp>
    </p:spTree>
  </p:cSld>
  <p:clrMapOvr>
    <a:masterClrMapping/>
  </p:clrMapOvr>
</p:sld>
</file>

<file path=ppt/theme/theme1.xml><?xml version="1.0" encoding="utf-8"?>
<a:theme xmlns:a="http://schemas.openxmlformats.org/drawingml/2006/main" name="SALESTORM NullPointer">
  <a:themeElements>
    <a:clrScheme name="SALESTORM NullPointer">
      <a:dk1>
        <a:srgbClr val="142033"/>
      </a:dk1>
      <a:lt1>
        <a:srgbClr val="FFFFFF"/>
      </a:lt1>
      <a:dk2>
        <a:srgbClr val="0E1A2E"/>
      </a:dk2>
      <a:lt2>
        <a:srgbClr val="EEF2FA"/>
      </a:lt2>
      <a:accent1>
        <a:srgbClr val="2B50D6"/>
      </a:accent1>
      <a:accent2>
        <a:srgbClr val="F0A830"/>
      </a:accent2>
      <a:accent3>
        <a:srgbClr val="1C9A8A"/>
      </a:accent3>
      <a:accent4>
        <a:srgbClr val="C8334F"/>
      </a:accent4>
      <a:accent5>
        <a:srgbClr val="12805A"/>
      </a:accent5>
      <a:accent6>
        <a:srgbClr val="7A5AF8"/>
      </a:accent6>
      <a:hlink>
        <a:srgbClr val="2B50D6"/>
      </a:hlink>
      <a:folHlink>
        <a:srgbClr val="7A5AF8"/>
      </a:folHlink>
    </a:clrScheme>
    <a:fontScheme name="SALESTORM NullPoint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Team NullPointer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SALESTORM: every transaction correct under flash-sale load</dc:title>
  <dc:subject>PptxGenJS Presentation</dc:subject>
  <dc:creator>Team NullPointer</dc:creator>
  <cp:lastModifiedBy>Team NullPointer</cp:lastModifiedBy>
  <cp:revision>1</cp:revision>
  <dcterms:created xsi:type="dcterms:W3CDTF">2026-10-05T05:32:05Z</dcterms:created>
  <dcterms:modified xsi:type="dcterms:W3CDTF">2026-10-05T05:32:05Z</dcterms:modified>
</cp:coreProperties>
</file>